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7aefd6309f34c26" /><Relationship Type="http://schemas.openxmlformats.org/officeDocument/2006/relationships/extended-properties" Target="/docProps/app.xml" Id="Rad0525c776544502" /><Relationship Type="http://schemas.openxmlformats.org/officeDocument/2006/relationships/officeDocument" Target="/ppt/presentation.xml" Id="R22459e0cf9c94ac1" /></Relationships>
</file>

<file path=ppt/presentation.xml><?xml version="1.0" encoding="utf-8"?>
<p:presentation xmlns:p="http://schemas.openxmlformats.org/presentationml/2006/main">
  <p:sldMasterIdLst>
    <p:sldMasterId xmlns:r="http://schemas.openxmlformats.org/officeDocument/2006/relationships" id="2147483648" r:id="R1cb8e7656cc94965"/>
  </p:sldMasterIdLst>
  <p:notesMasterIdLst>
    <p:notesMasterId xmlns:r="http://schemas.openxmlformats.org/officeDocument/2006/relationships" r:id="R7379c1d8b7e04aa4"/>
  </p:notesMasterIdLst>
  <p:sldIdLst>
    <p:sldId xmlns:r="http://schemas.openxmlformats.org/officeDocument/2006/relationships" id="256" r:id="R3e8562a645ee470c"/>
    <p:sldId xmlns:r="http://schemas.openxmlformats.org/officeDocument/2006/relationships" id="257" r:id="Rcfa1937015c14c07"/>
    <p:sldId xmlns:r="http://schemas.openxmlformats.org/officeDocument/2006/relationships" id="258" r:id="R1c9cd4f3698d4c41"/>
    <p:sldId xmlns:r="http://schemas.openxmlformats.org/officeDocument/2006/relationships" id="259" r:id="R2626ce099b534591"/>
    <p:sldId xmlns:r="http://schemas.openxmlformats.org/officeDocument/2006/relationships" id="260" r:id="Rf073b5d8aa0a4064"/>
    <p:sldId xmlns:r="http://schemas.openxmlformats.org/officeDocument/2006/relationships" id="261" r:id="R8c4be8f952554adb"/>
    <p:sldId xmlns:r="http://schemas.openxmlformats.org/officeDocument/2006/relationships" id="262" r:id="R8ae7b5e692244260"/>
    <p:sldId xmlns:r="http://schemas.openxmlformats.org/officeDocument/2006/relationships" id="263" r:id="Rfdc4e73ab5274e07"/>
    <p:sldId xmlns:r="http://schemas.openxmlformats.org/officeDocument/2006/relationships" id="264" r:id="Rb9957195d10c4d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bf14b6a71a4191" /><Relationship Type="http://schemas.openxmlformats.org/officeDocument/2006/relationships/slideMaster" Target="/ppt/slideMasters/slideMaster1.xml" Id="R1cb8e7656cc94965" /><Relationship Type="http://schemas.openxmlformats.org/officeDocument/2006/relationships/notesMaster" Target="/ppt/notesMasters/notesMaster1.xml" Id="R7379c1d8b7e04aa4" /><Relationship Type="http://schemas.openxmlformats.org/officeDocument/2006/relationships/presProps" Target="/ppt/presProps.xml" Id="R64659bf27ef04c7a" /><Relationship Type="http://schemas.openxmlformats.org/officeDocument/2006/relationships/tableStyles" Target="/ppt/tableStyles.xml" Id="R7a188b6b69e7466c" /><Relationship Type="http://schemas.openxmlformats.org/officeDocument/2006/relationships/slide" Target="/ppt/slides/slide1.xml" Id="R3e8562a645ee470c" /><Relationship Type="http://schemas.openxmlformats.org/officeDocument/2006/relationships/slide" Target="/ppt/slides/slide2.xml" Id="Rcfa1937015c14c07" /><Relationship Type="http://schemas.openxmlformats.org/officeDocument/2006/relationships/slide" Target="/ppt/slides/slide3.xml" Id="R1c9cd4f3698d4c41" /><Relationship Type="http://schemas.openxmlformats.org/officeDocument/2006/relationships/slide" Target="/ppt/slides/slide4.xml" Id="R2626ce099b534591" /><Relationship Type="http://schemas.openxmlformats.org/officeDocument/2006/relationships/slide" Target="/ppt/slides/slide5.xml" Id="Rf073b5d8aa0a4064" /><Relationship Type="http://schemas.openxmlformats.org/officeDocument/2006/relationships/slide" Target="/ppt/slides/slide6.xml" Id="R8c4be8f952554adb" /><Relationship Type="http://schemas.openxmlformats.org/officeDocument/2006/relationships/slide" Target="/ppt/slides/slide7.xml" Id="R8ae7b5e692244260" /><Relationship Type="http://schemas.openxmlformats.org/officeDocument/2006/relationships/slide" Target="/ppt/slides/slide8.xml" Id="Rfdc4e73ab5274e07" /><Relationship Type="http://schemas.openxmlformats.org/officeDocument/2006/relationships/slide" Target="/ppt/slides/slide9.xml" Id="Rb9957195d10c4d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53fdfa6cea43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3eeff9ee514540" /><Relationship Type="http://schemas.openxmlformats.org/officeDocument/2006/relationships/notesMaster" Target="/ppt/notesMasters/notesMaster1.xml" Id="Rbf07eb676b4c4a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d90ef3a47c4cb1" /><Relationship Type="http://schemas.openxmlformats.org/officeDocument/2006/relationships/notesMaster" Target="/ppt/notesMasters/notesMaster1.xml" Id="Rf5c05116d2ae48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a3ad6313ec41a3" /><Relationship Type="http://schemas.openxmlformats.org/officeDocument/2006/relationships/notesMaster" Target="/ppt/notesMasters/notesMaster1.xml" Id="Rfde4b206031c4e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c07e9a05a46a6" /><Relationship Type="http://schemas.openxmlformats.org/officeDocument/2006/relationships/notesMaster" Target="/ppt/notesMasters/notesMaster1.xml" Id="R87a9537dc78940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3af3b092034edf" /><Relationship Type="http://schemas.openxmlformats.org/officeDocument/2006/relationships/notesMaster" Target="/ppt/notesMasters/notesMaster1.xml" Id="R7f732375921346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7bfc79447f4c1a" /><Relationship Type="http://schemas.openxmlformats.org/officeDocument/2006/relationships/notesMaster" Target="/ppt/notesMasters/notesMaster1.xml" Id="R4079686eb46a44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8c2e02e1f74774" /><Relationship Type="http://schemas.openxmlformats.org/officeDocument/2006/relationships/notesMaster" Target="/ppt/notesMasters/notesMaster1.xml" Id="R0b6a965ada6749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ba7598f4fe4ec6" /><Relationship Type="http://schemas.openxmlformats.org/officeDocument/2006/relationships/notesMaster" Target="/ppt/notesMasters/notesMaster1.xml" Id="Rbdd0f905777041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17d8a63ae6490a" /><Relationship Type="http://schemas.openxmlformats.org/officeDocument/2006/relationships/notesMaster" Target="/ppt/notesMasters/notesMaster1.xml" Id="R9589a4df152c4a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25 seconds. Our current question is whether COVID activity in commuting-connected NJ regions improves forecasts of daily local onset counts. NJ-only is the current scope because the received case data contain NJ outcomes. The original NJ-to-NY question still needs NY outcome data. Stage Two remains future cross-disease evaluation. Findings today are exploratory validation, not final test evidence. Data and figures come from local Notebooks 07 through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45 seconds. We processed 2,656,888 source rows from NJ 2020–2023, removed exact duplicate rows and aggregated eligible records by ZIP and ILLNESS_ONSET_DATE. The resulting feature panel has 873,678 region-day rows, 598 reference identifiers and 1,040,394 included onset rows. The current matched model cohort has 585 regions: positive destination population and usable external-origin pressure. Postal ZIP to ZCTA matching remains based on exact identifiers and is not a validated correspondence. Missing onset is approximately 60.65% of raw records, excluded rather than recoded to zero. Absent source ZIP-date groups are zero by the agreed source rule. A decline in included onset records cannot be read directly as a decline in all infections because missingness and source coverage may change. These counts are source rows, not validated unique infection episodes. Source: C:\Users\41240\OneDrive\文档\GitHub\practicum-project\Weikun\nj_daily_feature_outputs\nj_daily_features.csv.gz; cleaning records and build_summary.json in the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45 seconds. This addresses mentor feedback on scope, training windows and validation. Every comparison uses the same 585 NJ regions, the same forecast origins, weekly parameter refits and direct horizons 1, 2 and 3. Features use trailing information only. Training labels are no later than each refit date. We compared 30- and 60-day windows. Three feature searches used January-June 2021 and a 0.1% relative mean-MAE improvement threshold, a heuristic rather than a coefficient p-value test. Lists froze before July-December scoring, while rolling parameter refits could use past observed outcomes. Earlier project work already examined all of 2021, so later validation is exploratory rather than an untouched holdout. The 2022-2023 test period was not scored in these new comparisons, though earlier work inspected it. 34 columns include calendar dummy columns. Backward retains 21 columns. Forward and Stepwise both retain 9: today, 7-day mean, 7-day pressure, and six weekday controls. ZIP FE are additional. These were free-selection experiments; the newly agreed required-Pressure design has not yet been rerun. Sources: C:\Users\41240\OneDrive\文档\GitHub\practicum-project\Weikun\individual_feature_selection_outputs\three_methods_20261026T152516441253Z\selected_features_by_method.json; Notebook 15 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50 seconds. Compare later-2021 mean MAE averaged equally over the three forecast horizons. Full: 1.180819 to 1.159097. Backward: 1.178472 to 1.159535. Forward/Stepwise: 1.171625 to 1.164881. Lower is better. All mean RMSEs also fall, but the ranking across feature combinations changes. At 60 days the full model has lowest MAE and Backward has lowest RMSE by a very small margin. Pairwise feature-combination MAE contrasts at 60 days do not pass the multiplicity-adjusted 5% criterion. For the window change, exploratory Holm p-values are approximately 0.000446 for Full, 0.0320 for Backward and 1.0 for Forward/Stepwise. These p-values remain exploratory after selection and prior validation inspection. Forward and Stepwise are identical predictions, not independent replications. Source: C:\Users\41240\OneDrive\文档\GitHub\practicum-project\Weikun\individual_feature_selection_outputs\frozen_window_60_20261026T153858733079Z\window_method_comparison_summary.csv; paired_comparisons.csv alongside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45 seconds. Fixed 60-day windows, weekly refits, same 585 regions. Compact with pressure uses current cases, trailing 7-day mean and 7-day commuting pressure, plus weekday controls and ZIP FE. No-pressure counterpart removes only pressure and refits. Later-2021 mean MAE: no pressure 1.127037, pressure 1.164881, persistence 1.346114, seasonal naive 1.383413. The pressure model lowers MAE by 13.46% relative to persistence and 15.80% relative to seasonal naive. Exploratory adjusted p-values are very small, but this is not final holdout validation. Pressure model RMSE 2.003248 versus no-pressure 2.008233, persistence 2.388163 and seasonal naive 2.548214. No-pressure has lower MAE, while pressure slightly lowers RMSE and reduces average underprediction. Do not conflate this with a proven spatial transmission mechanism. Source: C:\Users\41240\OneDrive\文档\GitHub\practicum-project\Weikun\pressure_validation_outputs\pressure_check_20261026T160907020618Z\summary_metrics.csv; C:\Users\41240\OneDrive\文档\GitHub\practicum-project\Weikun\pressure_validation_outputs\pressure_check_20261026T160907020618Z\paired_pressure_and_benchmark_tests.csv.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50 seconds. This is a conditional ablation of the frozen compact model, not a new feature search. Monthly values are mean MAE without pressure minus mean MAE with pressure. Positive values favor pressure. Pressure helps during much of early 2021 and October-November but hurts in July-September and December. Monthly groups are forecast-origin months and descriptive, not independent significance tests. Later-2021 pressure worsens mean MAE by about 0.037844 (3.36% relative to the no-pressure baseline) but slightly improves mean RMSE, 2.003248 vs 2.008233, and bias, -0.027737 vs -0.189913. Overall exploratory adjusted p for the MAE contrast is 0.0923, so evidence does not establish stable harm or benefit. Pressure remains required in our main research model because our question concerns commuting-connected regional signals. The no-pressure model is an ablation benchmark, not a decision to drop geography. Further optional-feature selection should force pressure to remain, and that constrained search is pending. Source: C:\Users\41240\OneDrive\文档\GitHub\practicum-project\Weikun\pressure_validation_outputs\pressure_check_20261026T160907020618Z\metrics_by_month.csv; C:\Users\41240\OneDrive\文档\GitHub\practicum-project\Weikun\pressure_validation_outputs\pressure_check_20261026T160907020618Z\paired_pressure_and_benchmark_tests.csv.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 Main research design: 7-day pressure is a required predictor and the otherwise matched no-pressure model remains the ablation. This is a scope choice, not a claim of guaranteed forecast improvement. Next rerun optional-feature selection with pressure forced in. Then compare Dynamic Panel FE with XGBoost and Random Forest under the same target dates, training windows and matched regions. Continue the existing 1-3-day count benchmark before extending to 7/14-day trajectories. Define outbreak events and warning thresholds before PR-AUC and warning lead time. Obtain real geographic weights before residual Moran I. Stage Two needs compatible target-disease data and aligned geography, dates and outcomes. Resolve missing onset and ZIP-ZCTA mapping limitations with the data provider. No claimed causal or final generalization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 part of the five-minute presentation. This slide documents material limitations for the final report and team discussion. The dataset is retrospective onset records, not as-of reporting snapshots, and approximately 60.65% of raw records lack onset. Static 2021 population and commute estimates are applied across 2020-2023. Postal ZIP and ZCTA identifiers only match exactly and correspondence remains unvalidated. Feature and window searches repeatedly inspected 2021; 2022-2023 was viewed in earlier notebooks. Exploratory HAC tests and date-block intervals do not repair post-selection bias or produce causal evidence. The current estimator is FE OLS, not GMM. Do not report Sargan/Hansen or Arellano-Bond tests as if calculated. Residual Moran needs real geographic weights. PR-AUC/lead time require outbreak labels, risk scores and warning rules. Sources: Notebook 07 cleaning manifest, Notebook 09 build summary, Notebooks 13-17 methods and protocols.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 part of the presentation. The assignment requests individual time sheets as an appendix or separate upload. Actual hours and dates were not provided, so this editable table is intentionally incomplete. Each teammate must replace the prompts with their own true entries before course submission. No hours are inferred from generated notebook run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a79b9e6e2d4e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0dd6a8ba7b40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6dc6197ce548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0a012692714c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de9e46e86a43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5f8808b7c14d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CB858F-0DBD-4B4A-B1F4-81D294D2AB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72A43F-7349-4613-AB4E-3893E75208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3D4E3D-67D8-4E06-8ECD-2788E6B556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4DBF1-22A9-4AD4-9DA6-2960FC3758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22A8D8-C370-4796-8100-C3E7711366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B8EC2F-B516-480E-AA37-8E788E7090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F491F-EDC7-4D01-B12C-BF041D683D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2B1A9C-F96E-4555-9C1E-0338291679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34FBB2-D9C3-4D1F-BEAE-43845B73F5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84D11D-31F8-44A3-93A1-B49D4882C2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a6007b214e42a3" /><Relationship Type="http://schemas.openxmlformats.org/officeDocument/2006/relationships/slideLayout" Target="/ppt/slideLayouts/slideLayout1.xml" Id="Re0370e04709846c8" /><Relationship Type="http://schemas.openxmlformats.org/officeDocument/2006/relationships/slideLayout" Target="/ppt/slideLayouts/slideLayout2.xml" Id="R21d9d4ae736b445c" /><Relationship Type="http://schemas.openxmlformats.org/officeDocument/2006/relationships/slideLayout" Target="/ppt/slideLayouts/slideLayout3.xml" Id="R2458ce621d0d420b" /><Relationship Type="http://schemas.openxmlformats.org/officeDocument/2006/relationships/slideLayout" Target="/ppt/slideLayouts/slideLayout4.xml" Id="Rdbec49bf846f4bf7" /><Relationship Type="http://schemas.openxmlformats.org/officeDocument/2006/relationships/slideLayout" Target="/ppt/slideLayouts/slideLayout5.xml" Id="R47bed8043cad47f4" /><Relationship Type="http://schemas.openxmlformats.org/officeDocument/2006/relationships/slideLayout" Target="/ppt/slideLayouts/slideLayout6.xml" Id="Ra4dd4f8abcd344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370e04709846c8"/>
    <p:sldLayoutId xmlns:r="http://schemas.openxmlformats.org/officeDocument/2006/relationships" id="2147483650" r:id="R21d9d4ae736b445c"/>
    <p:sldLayoutId xmlns:r="http://schemas.openxmlformats.org/officeDocument/2006/relationships" id="2147483651" r:id="R2458ce621d0d420b"/>
    <p:sldLayoutId xmlns:r="http://schemas.openxmlformats.org/officeDocument/2006/relationships" id="2147483652" r:id="Rdbec49bf846f4bf7"/>
    <p:sldLayoutId xmlns:r="http://schemas.openxmlformats.org/officeDocument/2006/relationships" id="2147483653" r:id="R47bed8043cad47f4"/>
    <p:sldLayoutId xmlns:r="http://schemas.openxmlformats.org/officeDocument/2006/relationships" id="2147483654" r:id="Ra4dd4f8abcd344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2f90d3a8ee4610" /><Relationship Type="http://schemas.openxmlformats.org/officeDocument/2006/relationships/notesSlide" Target="/ppt/notesSlides/notesSlide1.xml" Id="R97b4385687674d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eef1d0afb34e92" /><Relationship Type="http://schemas.openxmlformats.org/officeDocument/2006/relationships/chart" Target="/ppt/slides/charts/chart1.xml" Id="Ra123abf9b2ba4103" /><Relationship Type="http://schemas.openxmlformats.org/officeDocument/2006/relationships/notesSlide" Target="/ppt/notesSlides/notesSlide2.xml" Id="R8a5a2370829746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3ebbf0d01b404e" /><Relationship Type="http://schemas.openxmlformats.org/officeDocument/2006/relationships/notesSlide" Target="/ppt/notesSlides/notesSlide3.xml" Id="R571f8d9bd9764c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68753916d54723" /><Relationship Type="http://schemas.openxmlformats.org/officeDocument/2006/relationships/chart" Target="/ppt/slides/charts/chart2.xml" Id="Rf76a7ea5720540b4" /><Relationship Type="http://schemas.openxmlformats.org/officeDocument/2006/relationships/notesSlide" Target="/ppt/notesSlides/notesSlide4.xml" Id="Rd8ebdce62eb74b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b8d5f599c74a17" /><Relationship Type="http://schemas.openxmlformats.org/officeDocument/2006/relationships/chart" Target="/ppt/slides/charts/chart3.xml" Id="R5d747e5e7e3a455f" /><Relationship Type="http://schemas.openxmlformats.org/officeDocument/2006/relationships/notesSlide" Target="/ppt/notesSlides/notesSlide5.xml" Id="R3165dc4f925f4b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b8ca49495741ad" /><Relationship Type="http://schemas.openxmlformats.org/officeDocument/2006/relationships/chart" Target="/ppt/slides/charts/chart4.xml" Id="R9e641252ba6e4e4b" /><Relationship Type="http://schemas.openxmlformats.org/officeDocument/2006/relationships/notesSlide" Target="/ppt/notesSlides/notesSlide6.xml" Id="R93015c436c234e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d0c389beb2426d" /><Relationship Type="http://schemas.openxmlformats.org/officeDocument/2006/relationships/notesSlide" Target="/ppt/notesSlides/notesSlide7.xml" Id="R5c111c135b074f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f50fc2b4634e64" /><Relationship Type="http://schemas.openxmlformats.org/officeDocument/2006/relationships/notesSlide" Target="/ppt/notesSlides/notesSlide8.xml" Id="Re71d11bcdd994b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828f6dd7f64f55" /><Relationship Type="http://schemas.openxmlformats.org/officeDocument/2006/relationships/notesSlide" Target="/ppt/notesSlides/notesSlide9.xml" Id="Rd3cff53a002042c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Included onset records</c:v>
          </c:tx>
          <c:spPr>
            <a:solidFill xmlns:a="http://schemas.openxmlformats.org/drawingml/2006/main">
              <a:srgbClr val="2563EB"/>
            </a:solidFill>
          </c:spPr>
          <c:invertIfNegative val="0"/>
          <c:cat>
            <c:numRef>
              <c:f>'Chart Data'!$A$2:$A$5</c:f>
              <c:numCache>
                <c:formatCode>General</c:formatCode>
                <c:ptCount val="4"/>
                <c:pt idx="0">
                  <c:v>2020</c:v>
                </c:pt>
                <c:pt idx="1">
                  <c:v>2021</c:v>
                </c:pt>
                <c:pt idx="2">
                  <c:v>2022</c:v>
                </c:pt>
                <c:pt idx="3">
                  <c:v>2023</c:v>
                </c:pt>
              </c:numCache>
            </c:numRef>
          </c:cat>
          <c:val>
            <c:numRef>
              <c:f>'Chart Data'!$B$2:$B$5</c:f>
              <c:numCache>
                <c:formatCode>0.0</c:formatCode>
                <c:ptCount val="4"/>
                <c:pt idx="0">
                  <c:v>260.14</c:v>
                </c:pt>
                <c:pt idx="1">
                  <c:v>439.267</c:v>
                </c:pt>
                <c:pt idx="2">
                  <c:v>304.572</c:v>
                </c:pt>
                <c:pt idx="3">
                  <c:v>36.415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73654"/>
                  </a:solidFil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3EF"/>
            </a:solidFill>
          </a:ln>
        </c:spPr>
        <c:txPr>
          <a:bodyPr xmlns:a="http://schemas.openxmlformats.org/drawingml/2006/main" anchorCtr="1"/>
          <a:lstStyle xmlns:a="http://schemas.openxmlformats.org/drawingml/2006/main"/>
          <a:p xmlns:a="http://schemas.openxmlformats.org/drawingml/2006/main">
            <a:pPr>
              <a:defRPr sz="1650">
                <a:solidFill>
                  <a:srgbClr val="173654"/>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7E3EF"/>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77D"/>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30 days</c:v>
          </c:tx>
          <c:spPr>
            <a:solidFill xmlns:a="http://schemas.openxmlformats.org/drawingml/2006/main">
              <a:srgbClr val="A0AEC0"/>
            </a:solidFill>
          </c:spPr>
          <c:invertIfNegative val="0"/>
          <c:cat>
            <c:strRef>
              <c:f>'Chart Data'!$A$2:$A$4</c:f>
              <c:strCache>
                <c:ptCount val="3"/>
                <c:pt idx="0">
                  <c:v>Full</c:v>
                </c:pt>
                <c:pt idx="1">
                  <c:v>Backward</c:v>
                </c:pt>
                <c:pt idx="2">
                  <c:v>Forward / Stepwise</c:v>
                </c:pt>
              </c:strCache>
            </c:strRef>
          </c:cat>
          <c:val>
            <c:numRef>
              <c:f>'Chart Data'!$B$2:$B$4</c:f>
              <c:numCache>
                <c:formatCode>0.000</c:formatCode>
                <c:ptCount val="3"/>
                <c:pt idx="0">
                  <c:v>1.18081894</c:v>
                </c:pt>
                <c:pt idx="1">
                  <c:v>1.17847248</c:v>
                </c:pt>
                <c:pt idx="2">
                  <c:v>1.17162472</c:v>
                </c:pt>
              </c:numCache>
            </c:numRef>
          </c:val>
        </c:ser>
        <c:ser>
          <c:idx val="1"/>
          <c:order val="1"/>
          <c:tx>
            <c:v>60 days</c:v>
          </c:tx>
          <c:spPr>
            <a:solidFill xmlns:a="http://schemas.openxmlformats.org/drawingml/2006/main">
              <a:srgbClr val="2563EB"/>
            </a:solidFill>
          </c:spPr>
          <c:invertIfNegative val="0"/>
          <c:cat>
            <c:strRef>
              <c:f>'Chart Data'!$C$2:$C$4</c:f>
              <c:strCache>
                <c:ptCount val="3"/>
                <c:pt idx="0">
                  <c:v>Full</c:v>
                </c:pt>
                <c:pt idx="1">
                  <c:v>Backward</c:v>
                </c:pt>
                <c:pt idx="2">
                  <c:v>Forward / Stepwise</c:v>
                </c:pt>
              </c:strCache>
            </c:strRef>
          </c:cat>
          <c:val>
            <c:numRef>
              <c:f>'Chart Data'!$D$2:$D$4</c:f>
              <c:numCache>
                <c:formatCode>0.000</c:formatCode>
                <c:ptCount val="3"/>
                <c:pt idx="0">
                  <c:v>1.15909659</c:v>
                </c:pt>
                <c:pt idx="1">
                  <c:v>1.15953478</c:v>
                </c:pt>
                <c:pt idx="2">
                  <c:v>1.16488125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654"/>
                  </a:solidFil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3EF"/>
            </a:solidFill>
          </a:ln>
        </c:spPr>
        <c:txPr>
          <a:bodyPr xmlns:a="http://schemas.openxmlformats.org/drawingml/2006/main" anchorCtr="1"/>
          <a:lstStyle xmlns:a="http://schemas.openxmlformats.org/drawingml/2006/main"/>
          <a:p xmlns:a="http://schemas.openxmlformats.org/drawingml/2006/main">
            <a:pPr>
              <a:defRPr sz="1650">
                <a:solidFill>
                  <a:srgbClr val="173654"/>
                </a:solidFill>
              </a:defRPr>
            </a:pPr>
          </a:p>
        </c:txPr>
        <c:crossAx val="48672768"/>
      </c:catAx>
      <c:valAx>
        <c:axId val="48672768"/>
        <c:scaling>
          <c:orientation val="minMax"/>
          <c:max val="1.4"/>
          <c:min val="0"/>
        </c:scaling>
        <c:delete val="0"/>
        <c:axPos val="l"/>
        <c:majorGridlines>
          <c:spPr>
            <a:ln xmlns:a="http://schemas.openxmlformats.org/drawingml/2006/main" w="9525">
              <a:solidFill>
                <a:srgbClr val="D7E3EF"/>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77D"/>
                </a:solidFill>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3677D"/>
              </a:solidFil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2563EB"/>
            </a:solidFill>
          </c:spPr>
          <c:invertIfNegative val="0"/>
          <c:dPt>
            <c:idx val="0"/>
            <c:invertIfNegative val="0"/>
            <c:spPr>
              <a:solidFill xmlns:a="http://schemas.openxmlformats.org/drawingml/2006/main">
                <a:srgbClr val="087F78"/>
              </a:solidFill>
            </c:spPr>
          </c:dPt>
          <c:dPt>
            <c:idx val="2"/>
            <c:invertIfNegative val="0"/>
            <c:spPr>
              <a:solidFill xmlns:a="http://schemas.openxmlformats.org/drawingml/2006/main">
                <a:srgbClr val="A0AEC0"/>
              </a:solidFill>
            </c:spPr>
          </c:dPt>
          <c:dPt>
            <c:idx val="3"/>
            <c:invertIfNegative val="0"/>
            <c:spPr>
              <a:solidFill xmlns:a="http://schemas.openxmlformats.org/drawingml/2006/main">
                <a:srgbClr val="64748B"/>
              </a:solidFill>
            </c:spPr>
          </c:dPt>
          <c:cat>
            <c:strRef>
              <c:f>'Chart Data'!$A$2:$A$5</c:f>
              <c:strCache>
                <c:ptCount val="4"/>
                <c:pt idx="0">
                  <c:v>Local history</c:v>
                </c:pt>
                <c:pt idx="1">
                  <c:v>Local + pressure</c:v>
                </c:pt>
                <c:pt idx="2">
                  <c:v>Future = today</c:v>
                </c:pt>
                <c:pt idx="3">
                  <c:v>Same weekday
last week</c:v>
                </c:pt>
              </c:strCache>
            </c:strRef>
          </c:cat>
          <c:val>
            <c:numRef>
              <c:f>'Chart Data'!$B$2:$B$5</c:f>
              <c:numCache>
                <c:formatCode>0.000</c:formatCode>
                <c:ptCount val="4"/>
                <c:pt idx="0">
                  <c:v>1.12703734</c:v>
                </c:pt>
                <c:pt idx="1">
                  <c:v>1.16488125</c:v>
                </c:pt>
                <c:pt idx="2">
                  <c:v>1.3461145</c:v>
                </c:pt>
                <c:pt idx="3">
                  <c:v>1.38341282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654"/>
                  </a:solidFil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3EF"/>
            </a:solidFill>
          </a:ln>
        </c:spPr>
        <c:txPr>
          <a:bodyPr xmlns:a="http://schemas.openxmlformats.org/drawingml/2006/main" anchorCtr="1"/>
          <a:lstStyle xmlns:a="http://schemas.openxmlformats.org/drawingml/2006/main"/>
          <a:p xmlns:a="http://schemas.openxmlformats.org/drawingml/2006/main">
            <a:pPr>
              <a:defRPr sz="1650">
                <a:solidFill>
                  <a:srgbClr val="173654"/>
                </a:solidFill>
              </a:defRPr>
            </a:pPr>
          </a:p>
        </c:txPr>
        <c:crossAx val="48672768"/>
      </c:catAx>
      <c:valAx>
        <c:axId val="48672768"/>
        <c:scaling>
          <c:orientation val="minMax"/>
          <c:max val="1.65"/>
          <c:min val="0"/>
        </c:scaling>
        <c:delete val="0"/>
        <c:axPos val="l"/>
        <c:majorGridlines>
          <c:spPr>
            <a:ln xmlns:a="http://schemas.openxmlformats.org/drawingml/2006/main" w="9525">
              <a:solidFill>
                <a:srgbClr val="D7E3EF"/>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77D"/>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without minus with pressure</c:v>
          </c:tx>
          <c:spPr>
            <a:solidFill xmlns:a="http://schemas.openxmlformats.org/drawingml/2006/main">
              <a:srgbClr val="087F78"/>
            </a:solidFill>
          </c:spPr>
          <c:invertIfNegative val="0"/>
          <c:dPt>
            <c:idx val="0"/>
            <c:invertIfNegative val="0"/>
            <c:spPr>
              <a:solidFill xmlns:a="http://schemas.openxmlformats.org/drawingml/2006/main">
                <a:srgbClr val="087F78"/>
              </a:solidFill>
            </c:spPr>
          </c:dPt>
          <c:dPt>
            <c:idx val="1"/>
            <c:invertIfNegative val="0"/>
            <c:spPr>
              <a:solidFill xmlns:a="http://schemas.openxmlformats.org/drawingml/2006/main">
                <a:srgbClr val="087F78"/>
              </a:solidFill>
            </c:spPr>
          </c:dPt>
          <c:dPt>
            <c:idx val="2"/>
            <c:invertIfNegative val="0"/>
            <c:spPr>
              <a:solidFill xmlns:a="http://schemas.openxmlformats.org/drawingml/2006/main">
                <a:srgbClr val="C65A19"/>
              </a:solidFill>
            </c:spPr>
          </c:dPt>
          <c:dPt>
            <c:idx val="3"/>
            <c:invertIfNegative val="0"/>
            <c:spPr>
              <a:solidFill xmlns:a="http://schemas.openxmlformats.org/drawingml/2006/main">
                <a:srgbClr val="087F78"/>
              </a:solidFill>
            </c:spPr>
          </c:dPt>
          <c:dPt>
            <c:idx val="4"/>
            <c:invertIfNegative val="0"/>
            <c:spPr>
              <a:solidFill xmlns:a="http://schemas.openxmlformats.org/drawingml/2006/main">
                <a:srgbClr val="087F78"/>
              </a:solidFill>
            </c:spPr>
          </c:dPt>
          <c:dPt>
            <c:idx val="5"/>
            <c:invertIfNegative val="0"/>
            <c:spPr>
              <a:solidFill xmlns:a="http://schemas.openxmlformats.org/drawingml/2006/main">
                <a:srgbClr val="087F78"/>
              </a:solidFill>
            </c:spPr>
          </c:dPt>
          <c:dPt>
            <c:idx val="6"/>
            <c:invertIfNegative val="0"/>
            <c:spPr>
              <a:solidFill xmlns:a="http://schemas.openxmlformats.org/drawingml/2006/main">
                <a:srgbClr val="C65A19"/>
              </a:solidFill>
            </c:spPr>
          </c:dPt>
          <c:dPt>
            <c:idx val="7"/>
            <c:invertIfNegative val="0"/>
            <c:spPr>
              <a:solidFill xmlns:a="http://schemas.openxmlformats.org/drawingml/2006/main">
                <a:srgbClr val="C65A19"/>
              </a:solidFill>
            </c:spPr>
          </c:dPt>
          <c:dPt>
            <c:idx val="8"/>
            <c:invertIfNegative val="0"/>
            <c:spPr>
              <a:solidFill xmlns:a="http://schemas.openxmlformats.org/drawingml/2006/main">
                <a:srgbClr val="C65A19"/>
              </a:solidFill>
            </c:spPr>
          </c:dPt>
          <c:dPt>
            <c:idx val="9"/>
            <c:invertIfNegative val="0"/>
            <c:spPr>
              <a:solidFill xmlns:a="http://schemas.openxmlformats.org/drawingml/2006/main">
                <a:srgbClr val="087F78"/>
              </a:solidFill>
            </c:spPr>
          </c:dPt>
          <c:dPt>
            <c:idx val="10"/>
            <c:invertIfNegative val="0"/>
            <c:spPr>
              <a:solidFill xmlns:a="http://schemas.openxmlformats.org/drawingml/2006/main">
                <a:srgbClr val="087F78"/>
              </a:solidFill>
            </c:spPr>
          </c:dPt>
          <c:dPt>
            <c:idx val="11"/>
            <c:invertIfNegative val="0"/>
            <c:spPr>
              <a:solidFill xmlns:a="http://schemas.openxmlformats.org/drawingml/2006/main">
                <a:srgbClr val="C65A19"/>
              </a:solidFill>
            </c:spPr>
          </c:dPt>
          <c:cat>
            <c:strRef>
              <c:f>'Chart Data'!$A$2:$A$13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'Chart Data'!$B$2:$B$13</c:f>
              <c:numCache>
                <c:formatCode>0.000</c:formatCode>
                <c:ptCount val="12"/>
                <c:pt idx="0">
                  <c:v>0.00025482</c:v>
                </c:pt>
                <c:pt idx="1">
                  <c:v>0.07643549</c:v>
                </c:pt>
                <c:pt idx="2">
                  <c:v>-0.01461274</c:v>
                </c:pt>
                <c:pt idx="3">
                  <c:v>0.07507434</c:v>
                </c:pt>
                <c:pt idx="4">
                  <c:v>0.09913739</c:v>
                </c:pt>
                <c:pt idx="5">
                  <c:v>0.02663057</c:v>
                </c:pt>
                <c:pt idx="6">
                  <c:v>-0.0457163</c:v>
                </c:pt>
                <c:pt idx="7">
                  <c:v>-0.08060693</c:v>
                </c:pt>
                <c:pt idx="8">
                  <c:v>-0.0272559</c:v>
                </c:pt>
                <c:pt idx="9">
                  <c:v>0.03996897</c:v>
                </c:pt>
                <c:pt idx="10">
                  <c:v>0.00719628</c:v>
                </c:pt>
                <c:pt idx="11">
                  <c:v>-0.12753491</c:v>
                </c:pt>
              </c:numCache>
            </c:numRef>
          </c:val>
        </c:ser>
        <c:dLbls>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7E3EF"/>
            </a:solidFill>
          </a:ln>
        </c:spPr>
        <c:txPr>
          <a:bodyPr xmlns:a="http://schemas.openxmlformats.org/drawingml/2006/main" anchorCtr="1"/>
          <a:lstStyle xmlns:a="http://schemas.openxmlformats.org/drawingml/2006/main"/>
          <a:p xmlns:a="http://schemas.openxmlformats.org/drawingml/2006/main">
            <a:pPr>
              <a:defRPr sz="1650">
                <a:solidFill>
                  <a:srgbClr val="173654"/>
                </a:solidFill>
              </a:defRPr>
            </a:pPr>
          </a:p>
        </c:txPr>
        <c:crossAx val="48672768"/>
      </c:catAx>
      <c:valAx>
        <c:axId val="48672768"/>
        <c:scaling>
          <c:orientation val="minMax"/>
          <c:max val="0.12"/>
          <c:min val="-0.15"/>
        </c:scaling>
        <c:delete val="0"/>
        <c:axPos val="l"/>
        <c:majorGridlines>
          <c:spPr>
            <a:ln xmlns:a="http://schemas.openxmlformats.org/drawingml/2006/main" w="9525">
              <a:solidFill>
                <a:srgbClr val="D7E3E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77D"/>
                </a:solidFill>
              </a:defRPr>
            </a:pPr>
          </a:p>
        </c:txPr>
        <c:crossAx val="48650112"/>
        <c:crossBetween val="between"/>
        <c:majorUnit val="0.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DA82E3-FEC8-420A-9FBD-A4C7F15D3D86}"/>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NJ COVID forecasting: progress and findings</a:t>
            </a:r>
          </a:p>
        </p:txBody>
      </p:sp>
      <p:sp>
        <p:nvSpPr>
          <p:cNvPr id="2" name="">
            <a:extLst xmlns:a="http://schemas.openxmlformats.org/drawingml/2006/main">
              <a:ext uri="{FF2B5EF4-FFF2-40B4-BE49-F238E27FC236}">
                <a16:creationId xmlns:a16="http://schemas.microsoft.com/office/drawing/2014/main" id="{8A43F06F-8B3F-47F2-84B2-2E8B389CC916}"/>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01</a:t>
            </a:r>
          </a:p>
        </p:txBody>
      </p:sp>
      <p:sp>
        <p:nvSpPr>
          <p:cNvPr id="3" name="">
            <a:extLst xmlns:a="http://schemas.openxmlformats.org/drawingml/2006/main">
              <a:ext uri="{FF2B5EF4-FFF2-40B4-BE49-F238E27FC236}">
                <a16:creationId xmlns:a16="http://schemas.microsoft.com/office/drawing/2014/main" id="{12F5F750-C9CA-4746-B0AE-FD8B36FA51BB}"/>
              </a:ext>
            </a:extLst>
          </p:cNvPr>
          <p:cNvSpPr>
            <a:spLocks xmlns:a="http://schemas.openxmlformats.org/drawingml/2006/main" noGrp="1"/>
          </p:cNvSpPr>
          <p:nvPr/>
        </p:nvSpPr>
        <p:spPr>
          <a:xfrm xmlns:a="http://schemas.openxmlformats.org/drawingml/2006/main">
            <a:off x="571500" y="1381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63EB"/>
                </a:solidFill>
              </a:defRPr>
            </a:defPPr>
            <a:lvl1pPr>
              <a:defRPr sz="2550" b="1">
                <a:solidFill>
                  <a:srgbClr val="2563EB"/>
                </a:solidFill>
              </a:defRPr>
            </a:lvl1pPr>
            <a:lvl2pPr>
              <a:defRPr sz="2550" b="1">
                <a:solidFill>
                  <a:srgbClr val="2563EB"/>
                </a:solidFill>
              </a:defRPr>
            </a:lvl2pPr>
            <a:lvl3pPr>
              <a:defRPr sz="2550" b="1">
                <a:solidFill>
                  <a:srgbClr val="2563EB"/>
                </a:solidFill>
              </a:defRPr>
            </a:lvl3pPr>
            <a:lvl4pPr>
              <a:defRPr sz="2550" b="1">
                <a:solidFill>
                  <a:srgbClr val="2563EB"/>
                </a:solidFill>
              </a:defRPr>
            </a:lvl4pPr>
            <a:lvl5pPr>
              <a:defRPr sz="2550" b="1">
                <a:solidFill>
                  <a:srgbClr val="2563EB"/>
                </a:solidFill>
              </a:defRPr>
            </a:lvl5pPr>
            <a:lvl6pPr>
              <a:defRPr sz="2550" b="1">
                <a:solidFill>
                  <a:srgbClr val="2563EB"/>
                </a:solidFill>
              </a:defRPr>
            </a:lvl6pPr>
            <a:lvl7pPr>
              <a:defRPr sz="2550" b="1">
                <a:solidFill>
                  <a:srgbClr val="2563EB"/>
                </a:solidFill>
              </a:defRPr>
            </a:lvl7pPr>
            <a:lvl8pPr>
              <a:defRPr sz="2550" b="1">
                <a:solidFill>
                  <a:srgbClr val="2563EB"/>
                </a:solidFill>
              </a:defRPr>
            </a:lvl8pPr>
            <a:lvl9pPr>
              <a:defRPr sz="2550" b="1">
                <a:solidFill>
                  <a:srgbClr val="2563EB"/>
                </a:solidFill>
              </a:defRPr>
            </a:lvl9pPr>
          </a:lstStyle>
          <a:p xmlns:a="http://schemas.openxmlformats.org/drawingml/2006/main">
            <a:pPr>
              <a:defRPr sz="2550" b="1">
                <a:solidFill>
                  <a:srgbClr val="2563EB"/>
                </a:solidFill>
              </a:defRPr>
            </a:pPr>
            <a:r>
              <a:rPr sz="2550" b="1">
                <a:solidFill>
                  <a:srgbClr val="2563EB"/>
                </a:solidFill>
              </a:rPr>
              <a:t>Can commuting-linked case activity improve local forecasts?</a:t>
            </a:r>
          </a:p>
        </p:txBody>
      </p:sp>
      <p:sp>
        <p:nvSpPr>
          <p:cNvPr id="4" name="">
            <a:extLst xmlns:a="http://schemas.openxmlformats.org/drawingml/2006/main">
              <a:ext uri="{FF2B5EF4-FFF2-40B4-BE49-F238E27FC236}">
                <a16:creationId xmlns:a16="http://schemas.microsoft.com/office/drawing/2014/main" id="{FDCA0628-0956-42D1-9F91-61A92D07146E}"/>
              </a:ext>
            </a:extLst>
          </p:cNvPr>
          <p:cNvSpPr>
            <a:spLocks xmlns:a="http://schemas.openxmlformats.org/drawingml/2006/main" noGrp="1"/>
          </p:cNvSpPr>
          <p:nvPr/>
        </p:nvSpPr>
        <p:spPr>
          <a:xfrm xmlns:a="http://schemas.openxmlformats.org/drawingml/2006/main">
            <a:off x="571500" y="26670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654"/>
                </a:solidFill>
              </a:defRPr>
            </a:defPPr>
            <a:lvl1pPr>
              <a:defRPr sz="2550" b="1">
                <a:solidFill>
                  <a:srgbClr val="173654"/>
                </a:solidFill>
              </a:defRPr>
            </a:lvl1pPr>
            <a:lvl2pPr>
              <a:defRPr sz="2550" b="1">
                <a:solidFill>
                  <a:srgbClr val="173654"/>
                </a:solidFill>
              </a:defRPr>
            </a:lvl2pPr>
            <a:lvl3pPr>
              <a:defRPr sz="2550" b="1">
                <a:solidFill>
                  <a:srgbClr val="173654"/>
                </a:solidFill>
              </a:defRPr>
            </a:lvl3pPr>
            <a:lvl4pPr>
              <a:defRPr sz="2550" b="1">
                <a:solidFill>
                  <a:srgbClr val="173654"/>
                </a:solidFill>
              </a:defRPr>
            </a:lvl4pPr>
            <a:lvl5pPr>
              <a:defRPr sz="2550" b="1">
                <a:solidFill>
                  <a:srgbClr val="173654"/>
                </a:solidFill>
              </a:defRPr>
            </a:lvl5pPr>
            <a:lvl6pPr>
              <a:defRPr sz="2550" b="1">
                <a:solidFill>
                  <a:srgbClr val="173654"/>
                </a:solidFill>
              </a:defRPr>
            </a:lvl6pPr>
            <a:lvl7pPr>
              <a:defRPr sz="2550" b="1">
                <a:solidFill>
                  <a:srgbClr val="173654"/>
                </a:solidFill>
              </a:defRPr>
            </a:lvl7pPr>
            <a:lvl8pPr>
              <a:defRPr sz="2550" b="1">
                <a:solidFill>
                  <a:srgbClr val="173654"/>
                </a:solidFill>
              </a:defRPr>
            </a:lvl8pPr>
            <a:lvl9pPr>
              <a:defRPr sz="2550" b="1">
                <a:solidFill>
                  <a:srgbClr val="173654"/>
                </a:solidFill>
              </a:defRPr>
            </a:lvl9pPr>
          </a:lstStyle>
          <a:p xmlns:a="http://schemas.openxmlformats.org/drawingml/2006/main">
            <a:pPr>
              <a:defRPr sz="2550" b="1">
                <a:solidFill>
                  <a:srgbClr val="173654"/>
                </a:solidFill>
              </a:defRPr>
            </a:pPr>
            <a:r>
              <a:rPr sz="2550" b="1">
                <a:solidFill>
                  <a:srgbClr val="173654"/>
                </a:solidFill>
              </a:rPr>
              <a:t>Data pipeline ready</a:t>
            </a:r>
          </a:p>
        </p:txBody>
      </p:sp>
      <p:sp>
        <p:nvSpPr>
          <p:cNvPr id="5" name="">
            <a:extLst xmlns:a="http://schemas.openxmlformats.org/drawingml/2006/main">
              <a:ext uri="{FF2B5EF4-FFF2-40B4-BE49-F238E27FC236}">
                <a16:creationId xmlns:a16="http://schemas.microsoft.com/office/drawing/2014/main" id="{5A01C666-14FE-47BD-A35E-344869D86639}"/>
              </a:ext>
            </a:extLst>
          </p:cNvPr>
          <p:cNvSpPr>
            <a:spLocks xmlns:a="http://schemas.openxmlformats.org/drawingml/2006/main" noGrp="1"/>
          </p:cNvSpPr>
          <p:nvPr/>
        </p:nvSpPr>
        <p:spPr>
          <a:xfrm xmlns:a="http://schemas.openxmlformats.org/drawingml/2006/main">
            <a:off x="571500" y="31908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3677D"/>
                </a:solidFill>
              </a:defRPr>
            </a:defPPr>
            <a:lvl1pPr>
              <a:defRPr sz="2025" b="0">
                <a:solidFill>
                  <a:srgbClr val="53677D"/>
                </a:solidFill>
              </a:defRPr>
            </a:lvl1pPr>
            <a:lvl2pPr>
              <a:defRPr sz="2025" b="0">
                <a:solidFill>
                  <a:srgbClr val="53677D"/>
                </a:solidFill>
              </a:defRPr>
            </a:lvl2pPr>
            <a:lvl3pPr>
              <a:defRPr sz="2025" b="0">
                <a:solidFill>
                  <a:srgbClr val="53677D"/>
                </a:solidFill>
              </a:defRPr>
            </a:lvl3pPr>
            <a:lvl4pPr>
              <a:defRPr sz="2025" b="0">
                <a:solidFill>
                  <a:srgbClr val="53677D"/>
                </a:solidFill>
              </a:defRPr>
            </a:lvl4pPr>
            <a:lvl5pPr>
              <a:defRPr sz="2025" b="0">
                <a:solidFill>
                  <a:srgbClr val="53677D"/>
                </a:solidFill>
              </a:defRPr>
            </a:lvl5pPr>
            <a:lvl6pPr>
              <a:defRPr sz="2025" b="0">
                <a:solidFill>
                  <a:srgbClr val="53677D"/>
                </a:solidFill>
              </a:defRPr>
            </a:lvl6pPr>
            <a:lvl7pPr>
              <a:defRPr sz="2025" b="0">
                <a:solidFill>
                  <a:srgbClr val="53677D"/>
                </a:solidFill>
              </a:defRPr>
            </a:lvl7pPr>
            <a:lvl8pPr>
              <a:defRPr sz="2025" b="0">
                <a:solidFill>
                  <a:srgbClr val="53677D"/>
                </a:solidFill>
              </a:defRPr>
            </a:lvl8pPr>
            <a:lvl9pPr>
              <a:defRPr sz="2025" b="0">
                <a:solidFill>
                  <a:srgbClr val="53677D"/>
                </a:solidFill>
              </a:defRPr>
            </a:lvl9pPr>
          </a:lstStyle>
          <a:p xmlns:a="http://schemas.openxmlformats.org/drawingml/2006/main">
            <a:pPr>
              <a:defRPr sz="2025" b="0">
                <a:solidFill>
                  <a:srgbClr val="53677D"/>
                </a:solidFill>
              </a:defRPr>
            </a:pPr>
            <a:r>
              <a:rPr sz="2025" b="0">
                <a:solidFill>
                  <a:srgbClr val="53677D"/>
                </a:solidFill>
              </a:rPr>
              <a:t>598 reference regions, 2020–2023</a:t>
            </a:r>
          </a:p>
        </p:txBody>
      </p:sp>
      <p:sp>
        <p:nvSpPr>
          <p:cNvPr id="6" name="">
            <a:extLst xmlns:a="http://schemas.openxmlformats.org/drawingml/2006/main">
              <a:ext uri="{FF2B5EF4-FFF2-40B4-BE49-F238E27FC236}">
                <a16:creationId xmlns:a16="http://schemas.microsoft.com/office/drawing/2014/main" id="{BF4A3826-982F-482D-BB16-52BB72B5242D}"/>
              </a:ext>
            </a:extLst>
          </p:cNvPr>
          <p:cNvSpPr>
            <a:spLocks xmlns:a="http://schemas.openxmlformats.org/drawingml/2006/main" noGrp="1"/>
          </p:cNvSpPr>
          <p:nvPr/>
        </p:nvSpPr>
        <p:spPr>
          <a:xfrm xmlns:a="http://schemas.openxmlformats.org/drawingml/2006/main">
            <a:off x="571500" y="4048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654"/>
                </a:solidFill>
              </a:defRPr>
            </a:defPPr>
            <a:lvl1pPr>
              <a:defRPr sz="2550" b="1">
                <a:solidFill>
                  <a:srgbClr val="173654"/>
                </a:solidFill>
              </a:defRPr>
            </a:lvl1pPr>
            <a:lvl2pPr>
              <a:defRPr sz="2550" b="1">
                <a:solidFill>
                  <a:srgbClr val="173654"/>
                </a:solidFill>
              </a:defRPr>
            </a:lvl2pPr>
            <a:lvl3pPr>
              <a:defRPr sz="2550" b="1">
                <a:solidFill>
                  <a:srgbClr val="173654"/>
                </a:solidFill>
              </a:defRPr>
            </a:lvl3pPr>
            <a:lvl4pPr>
              <a:defRPr sz="2550" b="1">
                <a:solidFill>
                  <a:srgbClr val="173654"/>
                </a:solidFill>
              </a:defRPr>
            </a:lvl4pPr>
            <a:lvl5pPr>
              <a:defRPr sz="2550" b="1">
                <a:solidFill>
                  <a:srgbClr val="173654"/>
                </a:solidFill>
              </a:defRPr>
            </a:lvl5pPr>
            <a:lvl6pPr>
              <a:defRPr sz="2550" b="1">
                <a:solidFill>
                  <a:srgbClr val="173654"/>
                </a:solidFill>
              </a:defRPr>
            </a:lvl6pPr>
            <a:lvl7pPr>
              <a:defRPr sz="2550" b="1">
                <a:solidFill>
                  <a:srgbClr val="173654"/>
                </a:solidFill>
              </a:defRPr>
            </a:lvl7pPr>
            <a:lvl8pPr>
              <a:defRPr sz="2550" b="1">
                <a:solidFill>
                  <a:srgbClr val="173654"/>
                </a:solidFill>
              </a:defRPr>
            </a:lvl8pPr>
            <a:lvl9pPr>
              <a:defRPr sz="2550" b="1">
                <a:solidFill>
                  <a:srgbClr val="173654"/>
                </a:solidFill>
              </a:defRPr>
            </a:lvl9pPr>
          </a:lstStyle>
          <a:p xmlns:a="http://schemas.openxmlformats.org/drawingml/2006/main">
            <a:pPr>
              <a:defRPr sz="2550" b="1">
                <a:solidFill>
                  <a:srgbClr val="173654"/>
                </a:solidFill>
              </a:defRPr>
            </a:pPr>
            <a:r>
              <a:rPr sz="2550" b="1">
                <a:solidFill>
                  <a:srgbClr val="173654"/>
                </a:solidFill>
              </a:rPr>
              <a:t>60-day windows show lower average error</a:t>
            </a:r>
          </a:p>
        </p:txBody>
      </p:sp>
      <p:sp>
        <p:nvSpPr>
          <p:cNvPr id="7" name="">
            <a:extLst xmlns:a="http://schemas.openxmlformats.org/drawingml/2006/main">
              <a:ext uri="{FF2B5EF4-FFF2-40B4-BE49-F238E27FC236}">
                <a16:creationId xmlns:a16="http://schemas.microsoft.com/office/drawing/2014/main" id="{1C7CBA49-C80E-4220-BB35-6AC575E0D3D1}"/>
              </a:ext>
            </a:extLst>
          </p:cNvPr>
          <p:cNvSpPr>
            <a:spLocks xmlns:a="http://schemas.openxmlformats.org/drawingml/2006/main" noGrp="1"/>
          </p:cNvSpPr>
          <p:nvPr/>
        </p:nvSpPr>
        <p:spPr>
          <a:xfrm xmlns:a="http://schemas.openxmlformats.org/drawingml/2006/main">
            <a:off x="571500" y="4953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78"/>
                </a:solidFill>
              </a:defRPr>
            </a:defPPr>
            <a:lvl1pPr>
              <a:defRPr sz="2550" b="1">
                <a:solidFill>
                  <a:srgbClr val="087F78"/>
                </a:solidFill>
              </a:defRPr>
            </a:lvl1pPr>
            <a:lvl2pPr>
              <a:defRPr sz="2550" b="1">
                <a:solidFill>
                  <a:srgbClr val="087F78"/>
                </a:solidFill>
              </a:defRPr>
            </a:lvl2pPr>
            <a:lvl3pPr>
              <a:defRPr sz="2550" b="1">
                <a:solidFill>
                  <a:srgbClr val="087F78"/>
                </a:solidFill>
              </a:defRPr>
            </a:lvl3pPr>
            <a:lvl4pPr>
              <a:defRPr sz="2550" b="1">
                <a:solidFill>
                  <a:srgbClr val="087F78"/>
                </a:solidFill>
              </a:defRPr>
            </a:lvl4pPr>
            <a:lvl5pPr>
              <a:defRPr sz="2550" b="1">
                <a:solidFill>
                  <a:srgbClr val="087F78"/>
                </a:solidFill>
              </a:defRPr>
            </a:lvl5pPr>
            <a:lvl6pPr>
              <a:defRPr sz="2550" b="1">
                <a:solidFill>
                  <a:srgbClr val="087F78"/>
                </a:solidFill>
              </a:defRPr>
            </a:lvl6pPr>
            <a:lvl7pPr>
              <a:defRPr sz="2550" b="1">
                <a:solidFill>
                  <a:srgbClr val="087F78"/>
                </a:solidFill>
              </a:defRPr>
            </a:lvl7pPr>
            <a:lvl8pPr>
              <a:defRPr sz="2550" b="1">
                <a:solidFill>
                  <a:srgbClr val="087F78"/>
                </a:solidFill>
              </a:defRPr>
            </a:lvl8pPr>
            <a:lvl9pPr>
              <a:defRPr sz="2550" b="1">
                <a:solidFill>
                  <a:srgbClr val="087F78"/>
                </a:solidFill>
              </a:defRPr>
            </a:lvl9pPr>
          </a:lstStyle>
          <a:p xmlns:a="http://schemas.openxmlformats.org/drawingml/2006/main">
            <a:pPr>
              <a:defRPr sz="2550" b="1">
                <a:solidFill>
                  <a:srgbClr val="087F78"/>
                </a:solidFill>
              </a:defRPr>
            </a:pPr>
            <a:r>
              <a:rPr sz="2550" b="1">
                <a:solidFill>
                  <a:srgbClr val="087F78"/>
                </a:solidFill>
              </a:rPr>
              <a:t>Pressure remains central, with mixed predictive gains</a:t>
            </a:r>
          </a:p>
        </p:txBody>
      </p:sp>
      <p:sp>
        <p:nvSpPr>
          <p:cNvPr id="8" name="">
            <a:extLst xmlns:a="http://schemas.openxmlformats.org/drawingml/2006/main">
              <a:ext uri="{FF2B5EF4-FFF2-40B4-BE49-F238E27FC236}">
                <a16:creationId xmlns:a16="http://schemas.microsoft.com/office/drawing/2014/main" id="{F95F5E76-B774-4407-A279-65DD4ADF2257}"/>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Current scope: NJ-to-NJ forecasting. Other respiratory diseases remain Stage Two.</a:t>
            </a:r>
          </a:p>
        </p:txBody>
      </p:sp>
    </p:spTree>
    <p:extLst>
      <p:ext uri="{BB962C8B-B14F-4D97-AF65-F5344CB8AC3E}">
        <p14:creationId xmlns:p14="http://schemas.microsoft.com/office/powerpoint/2010/main" val="1436927804"/>
      </p:ext>
    </p:extLst>
  </p:cSld>
</p:sld>
</file>

<file path=ppt/slides/slide2.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7916B3-4CEA-4A10-86D1-28A0F9F697D6}"/>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Data coverage and cleaning</a:t>
            </a:r>
          </a:p>
        </p:txBody>
      </p:sp>
      <p:sp>
        <p:nvSpPr>
          <p:cNvPr id="2" name="">
            <a:extLst xmlns:a="http://schemas.openxmlformats.org/drawingml/2006/main">
              <a:ext uri="{FF2B5EF4-FFF2-40B4-BE49-F238E27FC236}">
                <a16:creationId xmlns:a16="http://schemas.microsoft.com/office/drawing/2014/main" id="{C25BD41F-55A3-4383-ACB7-7B88A7E71BED}"/>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02</a:t>
            </a:r>
          </a:p>
        </p:txBody>
      </p:sp>
      <p:sp>
        <p:nvSpPr>
          <p:cNvPr id="3" name="">
            <a:extLst xmlns:a="http://schemas.openxmlformats.org/drawingml/2006/main">
              <a:ext uri="{FF2B5EF4-FFF2-40B4-BE49-F238E27FC236}">
                <a16:creationId xmlns:a16="http://schemas.microsoft.com/office/drawing/2014/main" id="{F1CF00E6-2369-4565-A73B-76FEBA408C43}"/>
              </a:ext>
            </a:extLst>
          </p:cNvPr>
          <p:cNvSpPr>
            <a:spLocks xmlns:a="http://schemas.openxmlformats.org/drawingml/2006/main" noGrp="1"/>
          </p:cNvSpPr>
          <p:nvPr/>
        </p:nvSpPr>
        <p:spPr>
          <a:xfrm xmlns:a="http://schemas.openxmlformats.org/drawingml/2006/main">
            <a:off x="571500" y="12858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654"/>
                </a:solidFill>
              </a:defRPr>
            </a:defPPr>
            <a:lvl1pPr>
              <a:defRPr sz="2400" b="1">
                <a:solidFill>
                  <a:srgbClr val="173654"/>
                </a:solidFill>
              </a:defRPr>
            </a:lvl1pPr>
            <a:lvl2pPr>
              <a:defRPr sz="2400" b="1">
                <a:solidFill>
                  <a:srgbClr val="173654"/>
                </a:solidFill>
              </a:defRPr>
            </a:lvl2pPr>
            <a:lvl3pPr>
              <a:defRPr sz="2400" b="1">
                <a:solidFill>
                  <a:srgbClr val="173654"/>
                </a:solidFill>
              </a:defRPr>
            </a:lvl3pPr>
            <a:lvl4pPr>
              <a:defRPr sz="2400" b="1">
                <a:solidFill>
                  <a:srgbClr val="173654"/>
                </a:solidFill>
              </a:defRPr>
            </a:lvl4pPr>
            <a:lvl5pPr>
              <a:defRPr sz="2400" b="1">
                <a:solidFill>
                  <a:srgbClr val="173654"/>
                </a:solidFill>
              </a:defRPr>
            </a:lvl5pPr>
            <a:lvl6pPr>
              <a:defRPr sz="2400" b="1">
                <a:solidFill>
                  <a:srgbClr val="173654"/>
                </a:solidFill>
              </a:defRPr>
            </a:lvl6pPr>
            <a:lvl7pPr>
              <a:defRPr sz="2400" b="1">
                <a:solidFill>
                  <a:srgbClr val="173654"/>
                </a:solidFill>
              </a:defRPr>
            </a:lvl7pPr>
            <a:lvl8pPr>
              <a:defRPr sz="2400" b="1">
                <a:solidFill>
                  <a:srgbClr val="173654"/>
                </a:solidFill>
              </a:defRPr>
            </a:lvl8pPr>
            <a:lvl9pPr>
              <a:defRPr sz="2400" b="1">
                <a:solidFill>
                  <a:srgbClr val="173654"/>
                </a:solidFill>
              </a:defRPr>
            </a:lvl9pPr>
          </a:lstStyle>
          <a:p xmlns:a="http://schemas.openxmlformats.org/drawingml/2006/main">
            <a:pPr>
              <a:defRPr sz="2400" b="1">
                <a:solidFill>
                  <a:srgbClr val="173654"/>
                </a:solidFill>
              </a:defRPr>
            </a:pPr>
            <a:r>
              <a:rPr sz="2400" b="1">
                <a:solidFill>
                  <a:srgbClr val="173654"/>
                </a:solidFill>
              </a:rPr>
              <a:t>2.66M source rows</a:t>
            </a:r>
          </a:p>
        </p:txBody>
      </p:sp>
      <p:sp>
        <p:nvSpPr>
          <p:cNvPr id="4" name="">
            <a:extLst xmlns:a="http://schemas.openxmlformats.org/drawingml/2006/main">
              <a:ext uri="{FF2B5EF4-FFF2-40B4-BE49-F238E27FC236}">
                <a16:creationId xmlns:a16="http://schemas.microsoft.com/office/drawing/2014/main" id="{E9177860-91C7-4AF7-B1AF-E9A99234098F}"/>
              </a:ext>
            </a:extLst>
          </p:cNvPr>
          <p:cNvSpPr>
            <a:spLocks xmlns:a="http://schemas.openxmlformats.org/drawingml/2006/main" noGrp="1"/>
          </p:cNvSpPr>
          <p:nvPr/>
        </p:nvSpPr>
        <p:spPr>
          <a:xfrm xmlns:a="http://schemas.openxmlformats.org/drawingml/2006/main">
            <a:off x="6191250" y="12858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654"/>
                </a:solidFill>
              </a:defRPr>
            </a:defPPr>
            <a:lvl1pPr>
              <a:defRPr sz="2400" b="1">
                <a:solidFill>
                  <a:srgbClr val="173654"/>
                </a:solidFill>
              </a:defRPr>
            </a:lvl1pPr>
            <a:lvl2pPr>
              <a:defRPr sz="2400" b="1">
                <a:solidFill>
                  <a:srgbClr val="173654"/>
                </a:solidFill>
              </a:defRPr>
            </a:lvl2pPr>
            <a:lvl3pPr>
              <a:defRPr sz="2400" b="1">
                <a:solidFill>
                  <a:srgbClr val="173654"/>
                </a:solidFill>
              </a:defRPr>
            </a:lvl3pPr>
            <a:lvl4pPr>
              <a:defRPr sz="2400" b="1">
                <a:solidFill>
                  <a:srgbClr val="173654"/>
                </a:solidFill>
              </a:defRPr>
            </a:lvl4pPr>
            <a:lvl5pPr>
              <a:defRPr sz="2400" b="1">
                <a:solidFill>
                  <a:srgbClr val="173654"/>
                </a:solidFill>
              </a:defRPr>
            </a:lvl5pPr>
            <a:lvl6pPr>
              <a:defRPr sz="2400" b="1">
                <a:solidFill>
                  <a:srgbClr val="173654"/>
                </a:solidFill>
              </a:defRPr>
            </a:lvl6pPr>
            <a:lvl7pPr>
              <a:defRPr sz="2400" b="1">
                <a:solidFill>
                  <a:srgbClr val="173654"/>
                </a:solidFill>
              </a:defRPr>
            </a:lvl7pPr>
            <a:lvl8pPr>
              <a:defRPr sz="2400" b="1">
                <a:solidFill>
                  <a:srgbClr val="173654"/>
                </a:solidFill>
              </a:defRPr>
            </a:lvl8pPr>
            <a:lvl9pPr>
              <a:defRPr sz="2400" b="1">
                <a:solidFill>
                  <a:srgbClr val="173654"/>
                </a:solidFill>
              </a:defRPr>
            </a:lvl9pPr>
          </a:lstStyle>
          <a:p xmlns:a="http://schemas.openxmlformats.org/drawingml/2006/main">
            <a:pPr>
              <a:defRPr sz="2400" b="1">
                <a:solidFill>
                  <a:srgbClr val="173654"/>
                </a:solidFill>
              </a:defRPr>
            </a:pPr>
            <a:r>
              <a:rPr sz="2400" b="1">
                <a:solidFill>
                  <a:srgbClr val="173654"/>
                </a:solidFill>
              </a:rPr>
              <a:t>1.04M included onset rows</a:t>
            </a:r>
          </a:p>
        </p:txBody>
      </p:sp>
      <p:sp>
        <p:nvSpPr>
          <p:cNvPr id="5" name="">
            <a:extLst xmlns:a="http://schemas.openxmlformats.org/drawingml/2006/main">
              <a:ext uri="{FF2B5EF4-FFF2-40B4-BE49-F238E27FC236}">
                <a16:creationId xmlns:a16="http://schemas.microsoft.com/office/drawing/2014/main" id="{E13586E5-D233-4981-AE6B-2C37D51E57CA}"/>
              </a:ext>
            </a:extLst>
          </p:cNvPr>
          <p:cNvSpPr>
            <a:spLocks xmlns:a="http://schemas.openxmlformats.org/drawingml/2006/main" noGrp="1"/>
          </p:cNvSpPr>
          <p:nvPr/>
        </p:nvSpPr>
        <p:spPr>
          <a:xfrm xmlns:a="http://schemas.openxmlformats.org/drawingml/2006/main">
            <a:off x="571500" y="2047875"/>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54"/>
                </a:solidFill>
              </a:defRPr>
            </a:defPPr>
            <a:lvl1pPr>
              <a:defRPr sz="1950" b="1">
                <a:solidFill>
                  <a:srgbClr val="173654"/>
                </a:solidFill>
              </a:defRPr>
            </a:lvl1pPr>
            <a:lvl2pPr>
              <a:defRPr sz="1950" b="1">
                <a:solidFill>
                  <a:srgbClr val="173654"/>
                </a:solidFill>
              </a:defRPr>
            </a:lvl2pPr>
            <a:lvl3pPr>
              <a:defRPr sz="1950" b="1">
                <a:solidFill>
                  <a:srgbClr val="173654"/>
                </a:solidFill>
              </a:defRPr>
            </a:lvl3pPr>
            <a:lvl4pPr>
              <a:defRPr sz="1950" b="1">
                <a:solidFill>
                  <a:srgbClr val="173654"/>
                </a:solidFill>
              </a:defRPr>
            </a:lvl4pPr>
            <a:lvl5pPr>
              <a:defRPr sz="1950" b="1">
                <a:solidFill>
                  <a:srgbClr val="173654"/>
                </a:solidFill>
              </a:defRPr>
            </a:lvl5pPr>
            <a:lvl6pPr>
              <a:defRPr sz="1950" b="1">
                <a:solidFill>
                  <a:srgbClr val="173654"/>
                </a:solidFill>
              </a:defRPr>
            </a:lvl6pPr>
            <a:lvl7pPr>
              <a:defRPr sz="1950" b="1">
                <a:solidFill>
                  <a:srgbClr val="173654"/>
                </a:solidFill>
              </a:defRPr>
            </a:lvl7pPr>
            <a:lvl8pPr>
              <a:defRPr sz="1950" b="1">
                <a:solidFill>
                  <a:srgbClr val="173654"/>
                </a:solidFill>
              </a:defRPr>
            </a:lvl8pPr>
            <a:lvl9pPr>
              <a:defRPr sz="1950" b="1">
                <a:solidFill>
                  <a:srgbClr val="173654"/>
                </a:solidFill>
              </a:defRPr>
            </a:lvl9pPr>
          </a:lstStyle>
          <a:p xmlns:a="http://schemas.openxmlformats.org/drawingml/2006/main">
            <a:pPr>
              <a:defRPr sz="1950" b="1">
                <a:solidFill>
                  <a:srgbClr val="173654"/>
                </a:solidFill>
              </a:defRPr>
            </a:pPr>
            <a:r>
              <a:rPr sz="1950" b="1">
                <a:solidFill>
                  <a:srgbClr val="173654"/>
                </a:solidFill>
              </a:rPr>
              <a:t>Included onset records by year</a:t>
            </a:r>
          </a:p>
        </p:txBody>
      </p:sp>
      <p:graphicFrame>
        <p:nvGraphicFramePr>
          <p:cNvPr id="6" name="Chart">
            <a:extLst xmlns:a="http://schemas.openxmlformats.org/drawingml/2006/main">
              <a:ext uri="{FF2B5EF4-FFF2-40B4-BE49-F238E27FC236}">
                <a16:creationId xmlns:a16="http://schemas.microsoft.com/office/drawing/2014/main" id="{60DB39CE-E2E6-42D0-B9CE-7083BF49F2CD}"/>
              </a:ext>
            </a:extLst>
          </p:cNvPr>
          <p:cNvGraphicFramePr/>
          <p:nvPr/>
        </p:nvGraphicFramePr>
        <p:xfrm>
          <a:off xmlns:a="http://schemas.openxmlformats.org/drawingml/2006/main" x="571500" y="2476500"/>
          <a:ext xmlns:a="http://schemas.openxmlformats.org/drawingml/2006/main" cx="7239000" cy="2952750"/>
        </p:xfrm>
        <a:graphic xmlns:a="http://schemas.openxmlformats.org/drawingml/2006/main">
          <a:graphicData uri="http://schemas.openxmlformats.org/drawingml/2006/chart">
            <c:chart xmlns:r="http://schemas.openxmlformats.org/officeDocument/2006/relationships" xmlns:c="http://schemas.openxmlformats.org/drawingml/2006/chart" r:id="Ra123abf9b2ba4103"/>
          </a:graphicData>
        </a:graphic>
      </p:graphicFrame>
      <p:sp>
        <p:nvSpPr>
          <p:cNvPr id="7" name="">
            <a:extLst xmlns:a="http://schemas.openxmlformats.org/drawingml/2006/main">
              <a:ext uri="{FF2B5EF4-FFF2-40B4-BE49-F238E27FC236}">
                <a16:creationId xmlns:a16="http://schemas.microsoft.com/office/drawing/2014/main" id="{97CF86AF-6E32-41D0-8869-44463DE32AA7}"/>
              </a:ext>
            </a:extLst>
          </p:cNvPr>
          <p:cNvSpPr>
            <a:spLocks xmlns:a="http://schemas.openxmlformats.org/drawingml/2006/main" noGrp="1"/>
          </p:cNvSpPr>
          <p:nvPr/>
        </p:nvSpPr>
        <p:spPr>
          <a:xfrm xmlns:a="http://schemas.openxmlformats.org/drawingml/2006/main">
            <a:off x="809625" y="54292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77D"/>
                </a:solidFill>
              </a:defRPr>
            </a:defPPr>
            <a:lvl1pPr>
              <a:defRPr sz="1500" b="0">
                <a:solidFill>
                  <a:srgbClr val="53677D"/>
                </a:solidFill>
              </a:defRPr>
            </a:lvl1pPr>
            <a:lvl2pPr>
              <a:defRPr sz="1500" b="0">
                <a:solidFill>
                  <a:srgbClr val="53677D"/>
                </a:solidFill>
              </a:defRPr>
            </a:lvl2pPr>
            <a:lvl3pPr>
              <a:defRPr sz="1500" b="0">
                <a:solidFill>
                  <a:srgbClr val="53677D"/>
                </a:solidFill>
              </a:defRPr>
            </a:lvl3pPr>
            <a:lvl4pPr>
              <a:defRPr sz="1500" b="0">
                <a:solidFill>
                  <a:srgbClr val="53677D"/>
                </a:solidFill>
              </a:defRPr>
            </a:lvl4pPr>
            <a:lvl5pPr>
              <a:defRPr sz="1500" b="0">
                <a:solidFill>
                  <a:srgbClr val="53677D"/>
                </a:solidFill>
              </a:defRPr>
            </a:lvl5pPr>
            <a:lvl6pPr>
              <a:defRPr sz="1500" b="0">
                <a:solidFill>
                  <a:srgbClr val="53677D"/>
                </a:solidFill>
              </a:defRPr>
            </a:lvl6pPr>
            <a:lvl7pPr>
              <a:defRPr sz="1500" b="0">
                <a:solidFill>
                  <a:srgbClr val="53677D"/>
                </a:solidFill>
              </a:defRPr>
            </a:lvl7pPr>
            <a:lvl8pPr>
              <a:defRPr sz="1500" b="0">
                <a:solidFill>
                  <a:srgbClr val="53677D"/>
                </a:solidFill>
              </a:defRPr>
            </a:lvl8pPr>
            <a:lvl9pPr>
              <a:defRPr sz="1500" b="0">
                <a:solidFill>
                  <a:srgbClr val="53677D"/>
                </a:solidFill>
              </a:defRPr>
            </a:lvl9pPr>
          </a:lstStyle>
          <a:p xmlns:a="http://schemas.openxmlformats.org/drawingml/2006/main">
            <a:pPr>
              <a:defRPr sz="1500" b="0">
                <a:solidFill>
                  <a:srgbClr val="53677D"/>
                </a:solidFill>
              </a:defRPr>
            </a:pPr>
            <a:r>
              <a:rPr sz="1500" b="0">
                <a:solidFill>
                  <a:srgbClr val="53677D"/>
                </a:solidFill>
              </a:rPr>
              <a:t>Thousands of records</a:t>
            </a:r>
          </a:p>
        </p:txBody>
      </p:sp>
      <p:sp>
        <p:nvSpPr>
          <p:cNvPr id="8" name="">
            <a:extLst xmlns:a="http://schemas.openxmlformats.org/drawingml/2006/main">
              <a:ext uri="{FF2B5EF4-FFF2-40B4-BE49-F238E27FC236}">
                <a16:creationId xmlns:a16="http://schemas.microsoft.com/office/drawing/2014/main" id="{5BB70809-2811-46E0-BF5E-FCE2E1267DEB}"/>
              </a:ext>
            </a:extLst>
          </p:cNvPr>
          <p:cNvSpPr>
            <a:spLocks xmlns:a="http://schemas.openxmlformats.org/drawingml/2006/main" noGrp="1"/>
          </p:cNvSpPr>
          <p:nvPr/>
        </p:nvSpPr>
        <p:spPr>
          <a:xfrm xmlns:a="http://schemas.openxmlformats.org/drawingml/2006/main">
            <a:off x="8286750" y="26193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654"/>
                </a:solidFill>
              </a:defRPr>
            </a:defPPr>
            <a:lvl1pPr>
              <a:defRPr sz="3450" b="1">
                <a:solidFill>
                  <a:srgbClr val="173654"/>
                </a:solidFill>
              </a:defRPr>
            </a:lvl1pPr>
            <a:lvl2pPr>
              <a:defRPr sz="3450" b="1">
                <a:solidFill>
                  <a:srgbClr val="173654"/>
                </a:solidFill>
              </a:defRPr>
            </a:lvl2pPr>
            <a:lvl3pPr>
              <a:defRPr sz="3450" b="1">
                <a:solidFill>
                  <a:srgbClr val="173654"/>
                </a:solidFill>
              </a:defRPr>
            </a:lvl3pPr>
            <a:lvl4pPr>
              <a:defRPr sz="3450" b="1">
                <a:solidFill>
                  <a:srgbClr val="173654"/>
                </a:solidFill>
              </a:defRPr>
            </a:lvl4pPr>
            <a:lvl5pPr>
              <a:defRPr sz="3450" b="1">
                <a:solidFill>
                  <a:srgbClr val="173654"/>
                </a:solidFill>
              </a:defRPr>
            </a:lvl5pPr>
            <a:lvl6pPr>
              <a:defRPr sz="3450" b="1">
                <a:solidFill>
                  <a:srgbClr val="173654"/>
                </a:solidFill>
              </a:defRPr>
            </a:lvl6pPr>
            <a:lvl7pPr>
              <a:defRPr sz="3450" b="1">
                <a:solidFill>
                  <a:srgbClr val="173654"/>
                </a:solidFill>
              </a:defRPr>
            </a:lvl7pPr>
            <a:lvl8pPr>
              <a:defRPr sz="3450" b="1">
                <a:solidFill>
                  <a:srgbClr val="173654"/>
                </a:solidFill>
              </a:defRPr>
            </a:lvl8pPr>
            <a:lvl9pPr>
              <a:defRPr sz="3450" b="1">
                <a:solidFill>
                  <a:srgbClr val="173654"/>
                </a:solidFill>
              </a:defRPr>
            </a:lvl9pPr>
          </a:lstStyle>
          <a:p xmlns:a="http://schemas.openxmlformats.org/drawingml/2006/main">
            <a:pPr>
              <a:defRPr sz="3450" b="1">
                <a:solidFill>
                  <a:srgbClr val="173654"/>
                </a:solidFill>
              </a:defRPr>
            </a:pPr>
            <a:r>
              <a:rPr sz="3450" b="1">
                <a:solidFill>
                  <a:srgbClr val="173654"/>
                </a:solidFill>
              </a:rPr>
              <a:t>873,678</a:t>
            </a:r>
          </a:p>
        </p:txBody>
      </p:sp>
      <p:sp>
        <p:nvSpPr>
          <p:cNvPr id="9" name="">
            <a:extLst xmlns:a="http://schemas.openxmlformats.org/drawingml/2006/main">
              <a:ext uri="{FF2B5EF4-FFF2-40B4-BE49-F238E27FC236}">
                <a16:creationId xmlns:a16="http://schemas.microsoft.com/office/drawing/2014/main" id="{C2740988-E95A-4B8F-B489-F30830843800}"/>
              </a:ext>
            </a:extLst>
          </p:cNvPr>
          <p:cNvSpPr>
            <a:spLocks xmlns:a="http://schemas.openxmlformats.org/drawingml/2006/main" noGrp="1"/>
          </p:cNvSpPr>
          <p:nvPr/>
        </p:nvSpPr>
        <p:spPr>
          <a:xfrm xmlns:a="http://schemas.openxmlformats.org/drawingml/2006/main">
            <a:off x="8286750" y="32861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7D"/>
                </a:solidFill>
              </a:defRPr>
            </a:defPPr>
            <a:lvl1pPr>
              <a:defRPr sz="1950" b="0">
                <a:solidFill>
                  <a:srgbClr val="53677D"/>
                </a:solidFill>
              </a:defRPr>
            </a:lvl1pPr>
            <a:lvl2pPr>
              <a:defRPr sz="1950" b="0">
                <a:solidFill>
                  <a:srgbClr val="53677D"/>
                </a:solidFill>
              </a:defRPr>
            </a:lvl2pPr>
            <a:lvl3pPr>
              <a:defRPr sz="1950" b="0">
                <a:solidFill>
                  <a:srgbClr val="53677D"/>
                </a:solidFill>
              </a:defRPr>
            </a:lvl3pPr>
            <a:lvl4pPr>
              <a:defRPr sz="1950" b="0">
                <a:solidFill>
                  <a:srgbClr val="53677D"/>
                </a:solidFill>
              </a:defRPr>
            </a:lvl4pPr>
            <a:lvl5pPr>
              <a:defRPr sz="1950" b="0">
                <a:solidFill>
                  <a:srgbClr val="53677D"/>
                </a:solidFill>
              </a:defRPr>
            </a:lvl5pPr>
            <a:lvl6pPr>
              <a:defRPr sz="1950" b="0">
                <a:solidFill>
                  <a:srgbClr val="53677D"/>
                </a:solidFill>
              </a:defRPr>
            </a:lvl6pPr>
            <a:lvl7pPr>
              <a:defRPr sz="1950" b="0">
                <a:solidFill>
                  <a:srgbClr val="53677D"/>
                </a:solidFill>
              </a:defRPr>
            </a:lvl7pPr>
            <a:lvl8pPr>
              <a:defRPr sz="1950" b="0">
                <a:solidFill>
                  <a:srgbClr val="53677D"/>
                </a:solidFill>
              </a:defRPr>
            </a:lvl8pPr>
            <a:lvl9pPr>
              <a:defRPr sz="1950" b="0">
                <a:solidFill>
                  <a:srgbClr val="53677D"/>
                </a:solidFill>
              </a:defRPr>
            </a:lvl9pPr>
          </a:lstStyle>
          <a:p xmlns:a="http://schemas.openxmlformats.org/drawingml/2006/main">
            <a:pPr>
              <a:defRPr sz="1950" b="0">
                <a:solidFill>
                  <a:srgbClr val="53677D"/>
                </a:solidFill>
              </a:defRPr>
            </a:pPr>
            <a:r>
              <a:rPr sz="1950" b="0">
                <a:solidFill>
                  <a:srgbClr val="53677D"/>
                </a:solidFill>
              </a:rPr>
              <a:t>region-day rows</a:t>
            </a:r>
          </a:p>
        </p:txBody>
      </p:sp>
      <p:sp>
        <p:nvSpPr>
          <p:cNvPr id="10" name="">
            <a:extLst xmlns:a="http://schemas.openxmlformats.org/drawingml/2006/main">
              <a:ext uri="{FF2B5EF4-FFF2-40B4-BE49-F238E27FC236}">
                <a16:creationId xmlns:a16="http://schemas.microsoft.com/office/drawing/2014/main" id="{896F2B24-855B-4D07-9080-C58CEA86E231}"/>
              </a:ext>
            </a:extLst>
          </p:cNvPr>
          <p:cNvSpPr>
            <a:spLocks xmlns:a="http://schemas.openxmlformats.org/drawingml/2006/main" noGrp="1"/>
          </p:cNvSpPr>
          <p:nvPr/>
        </p:nvSpPr>
        <p:spPr>
          <a:xfrm xmlns:a="http://schemas.openxmlformats.org/drawingml/2006/main">
            <a:off x="8286750" y="4095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C65A19"/>
                </a:solidFill>
              </a:defRPr>
            </a:defPPr>
            <a:lvl1pPr>
              <a:defRPr sz="3150" b="1">
                <a:solidFill>
                  <a:srgbClr val="C65A19"/>
                </a:solidFill>
              </a:defRPr>
            </a:lvl1pPr>
            <a:lvl2pPr>
              <a:defRPr sz="3150" b="1">
                <a:solidFill>
                  <a:srgbClr val="C65A19"/>
                </a:solidFill>
              </a:defRPr>
            </a:lvl2pPr>
            <a:lvl3pPr>
              <a:defRPr sz="3150" b="1">
                <a:solidFill>
                  <a:srgbClr val="C65A19"/>
                </a:solidFill>
              </a:defRPr>
            </a:lvl3pPr>
            <a:lvl4pPr>
              <a:defRPr sz="3150" b="1">
                <a:solidFill>
                  <a:srgbClr val="C65A19"/>
                </a:solidFill>
              </a:defRPr>
            </a:lvl4pPr>
            <a:lvl5pPr>
              <a:defRPr sz="3150" b="1">
                <a:solidFill>
                  <a:srgbClr val="C65A19"/>
                </a:solidFill>
              </a:defRPr>
            </a:lvl5pPr>
            <a:lvl6pPr>
              <a:defRPr sz="3150" b="1">
                <a:solidFill>
                  <a:srgbClr val="C65A19"/>
                </a:solidFill>
              </a:defRPr>
            </a:lvl6pPr>
            <a:lvl7pPr>
              <a:defRPr sz="3150" b="1">
                <a:solidFill>
                  <a:srgbClr val="C65A19"/>
                </a:solidFill>
              </a:defRPr>
            </a:lvl7pPr>
            <a:lvl8pPr>
              <a:defRPr sz="3150" b="1">
                <a:solidFill>
                  <a:srgbClr val="C65A19"/>
                </a:solidFill>
              </a:defRPr>
            </a:lvl8pPr>
            <a:lvl9pPr>
              <a:defRPr sz="3150" b="1">
                <a:solidFill>
                  <a:srgbClr val="C65A19"/>
                </a:solidFill>
              </a:defRPr>
            </a:lvl9pPr>
          </a:lstStyle>
          <a:p xmlns:a="http://schemas.openxmlformats.org/drawingml/2006/main">
            <a:pPr>
              <a:defRPr sz="3150" b="1">
                <a:solidFill>
                  <a:srgbClr val="C65A19"/>
                </a:solidFill>
              </a:defRPr>
            </a:pPr>
            <a:r>
              <a:rPr sz="3150" b="1">
                <a:solidFill>
                  <a:srgbClr val="C65A19"/>
                </a:solidFill>
              </a:rPr>
              <a:t>60.65%</a:t>
            </a:r>
          </a:p>
        </p:txBody>
      </p:sp>
      <p:sp>
        <p:nvSpPr>
          <p:cNvPr id="11" name="">
            <a:extLst xmlns:a="http://schemas.openxmlformats.org/drawingml/2006/main">
              <a:ext uri="{FF2B5EF4-FFF2-40B4-BE49-F238E27FC236}">
                <a16:creationId xmlns:a16="http://schemas.microsoft.com/office/drawing/2014/main" id="{10142C38-683F-4AB0-BCC9-C4DF8DD97454}"/>
              </a:ext>
            </a:extLst>
          </p:cNvPr>
          <p:cNvSpPr>
            <a:spLocks xmlns:a="http://schemas.openxmlformats.org/drawingml/2006/main" noGrp="1"/>
          </p:cNvSpPr>
          <p:nvPr/>
        </p:nvSpPr>
        <p:spPr>
          <a:xfrm xmlns:a="http://schemas.openxmlformats.org/drawingml/2006/main">
            <a:off x="8286750" y="4667250"/>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C65A19"/>
                </a:solidFill>
              </a:defRPr>
            </a:defPPr>
            <a:lvl1pPr>
              <a:defRPr sz="1800" b="0">
                <a:solidFill>
                  <a:srgbClr val="C65A19"/>
                </a:solidFill>
              </a:defRPr>
            </a:lvl1pPr>
            <a:lvl2pPr>
              <a:defRPr sz="1800" b="0">
                <a:solidFill>
                  <a:srgbClr val="C65A19"/>
                </a:solidFill>
              </a:defRPr>
            </a:lvl2pPr>
            <a:lvl3pPr>
              <a:defRPr sz="1800" b="0">
                <a:solidFill>
                  <a:srgbClr val="C65A19"/>
                </a:solidFill>
              </a:defRPr>
            </a:lvl3pPr>
            <a:lvl4pPr>
              <a:defRPr sz="1800" b="0">
                <a:solidFill>
                  <a:srgbClr val="C65A19"/>
                </a:solidFill>
              </a:defRPr>
            </a:lvl4pPr>
            <a:lvl5pPr>
              <a:defRPr sz="1800" b="0">
                <a:solidFill>
                  <a:srgbClr val="C65A19"/>
                </a:solidFill>
              </a:defRPr>
            </a:lvl5pPr>
            <a:lvl6pPr>
              <a:defRPr sz="1800" b="0">
                <a:solidFill>
                  <a:srgbClr val="C65A19"/>
                </a:solidFill>
              </a:defRPr>
            </a:lvl6pPr>
            <a:lvl7pPr>
              <a:defRPr sz="1800" b="0">
                <a:solidFill>
                  <a:srgbClr val="C65A19"/>
                </a:solidFill>
              </a:defRPr>
            </a:lvl7pPr>
            <a:lvl8pPr>
              <a:defRPr sz="1800" b="0">
                <a:solidFill>
                  <a:srgbClr val="C65A19"/>
                </a:solidFill>
              </a:defRPr>
            </a:lvl8pPr>
            <a:lvl9pPr>
              <a:defRPr sz="1800" b="0">
                <a:solidFill>
                  <a:srgbClr val="C65A19"/>
                </a:solidFill>
              </a:defRPr>
            </a:lvl9pPr>
          </a:lstStyle>
          <a:p xmlns:a="http://schemas.openxmlformats.org/drawingml/2006/main">
            <a:pPr>
              <a:defRPr sz="1800" b="0">
                <a:solidFill>
                  <a:srgbClr val="C65A19"/>
                </a:solidFill>
              </a:defRPr>
            </a:pPr>
            <a:r>
              <a:rPr sz="1800" b="0">
                <a:solidFill>
                  <a:srgbClr val="C65A19"/>
                </a:solidFill>
              </a:rPr>
              <a:t>missing onset date</a:t>
            </a:r>
          </a:p>
          <a:p xmlns:a="http://schemas.openxmlformats.org/drawingml/2006/main">
            <a:pPr>
              <a:defRPr sz="1800" b="0">
                <a:solidFill>
                  <a:srgbClr val="C65A19"/>
                </a:solidFill>
              </a:defRPr>
            </a:pPr>
            <a:r>
              <a:rPr sz="1800" b="0">
                <a:solidFill>
                  <a:srgbClr val="C65A19"/>
                </a:solidFill>
              </a:rPr>
              <a:t>Excluded from this outcome</a:t>
            </a:r>
          </a:p>
        </p:txBody>
      </p:sp>
      <p:sp>
        <p:nvSpPr>
          <p:cNvPr id="12" name="">
            <a:extLst xmlns:a="http://schemas.openxmlformats.org/drawingml/2006/main">
              <a:ext uri="{FF2B5EF4-FFF2-40B4-BE49-F238E27FC236}">
                <a16:creationId xmlns:a16="http://schemas.microsoft.com/office/drawing/2014/main" id="{60AE87A2-B286-4756-8693-503B645AD840}"/>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Observed onset records describe the available data. Missing onset is not a zero-case observation.</a:t>
            </a:r>
          </a:p>
        </p:txBody>
      </p:sp>
    </p:spTree>
    <p:extLst>
      <p:ext uri="{BB962C8B-B14F-4D97-AF65-F5344CB8AC3E}">
        <p14:creationId xmlns:p14="http://schemas.microsoft.com/office/powerpoint/2010/main" val="344969748"/>
      </p:ext>
    </p:extLst>
  </p:cSld>
</p:sld>
</file>

<file path=ppt/slides/slide3.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E97F7-64BF-47AC-BA4B-FB0D2E0EBECD}"/>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Mentor feedback: scope and validation</a:t>
            </a:r>
          </a:p>
        </p:txBody>
      </p:sp>
      <p:sp>
        <p:nvSpPr>
          <p:cNvPr id="2" name="">
            <a:extLst xmlns:a="http://schemas.openxmlformats.org/drawingml/2006/main">
              <a:ext uri="{FF2B5EF4-FFF2-40B4-BE49-F238E27FC236}">
                <a16:creationId xmlns:a16="http://schemas.microsoft.com/office/drawing/2014/main" id="{3356F2AF-9A60-4C99-8154-C46551127DFE}"/>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03</a:t>
            </a:r>
          </a:p>
        </p:txBody>
      </p:sp>
      <p:graphicFrame>
        <p:nvGraphicFramePr>
          <p:cNvPr id="3" name="">
            <a:extLst xmlns:a="http://schemas.openxmlformats.org/drawingml/2006/main">
              <a:ext uri="{FF2B5EF4-FFF2-40B4-BE49-F238E27FC236}">
                <a16:creationId xmlns:a16="http://schemas.microsoft.com/office/drawing/2014/main" id="{8ACFE8BC-C5F6-40FA-B210-CC8AD7CE7549}"/>
              </a:ext>
            </a:extLst>
          </p:cNvPr>
          <p:cNvGraphicFramePr/>
          <p:nvPr/>
        </p:nvGraphicFramePr>
        <p:xfrm>
          <a:off xmlns:a="http://schemas.openxmlformats.org/drawingml/2006/main" x="571500" y="1381125"/>
          <a:ext xmlns:a="http://schemas.openxmlformats.org/drawingml/2006/main" cx="11049000" cy="3143250"/>
        </p:xfrm>
        <a:graphic xmlns:a="http://schemas.openxmlformats.org/drawingml/2006/main">
          <a:graphicData uri="http://schemas.openxmlformats.org/drawingml/2006/table">
            <a:tbl>
              <a:tblPr/>
              <a:tblGrid>
                <a:gridCol w="3507619"/>
                <a:gridCol w="7541381"/>
              </a:tblGrid>
              <a:tr h="523875">
                <a:tc>
                  <a:txBody>
                    <a:bodyPr/>
                    <a:lstStyle/>
                    <a:p>
                      <a:r>
                        <a:rPr sz="1800" b="1">
                          <a:solidFill>
                            <a:srgbClr val="FFFFFF"/>
                          </a:solidFill>
                        </a:rPr>
                        <a:t>Feedback</a:t>
                      </a:r>
                    </a:p>
                  </a:txBody>
                  <a:tcPr marL="91440" marR="91440" marT="45720" marB="45720">
                    <a:lnL w="9525">
                      <a:solidFill>
                        <a:srgbClr val="D7E3EF"/>
                      </a:solidFill>
                      <a:prstDash val="solid"/>
                    </a:lnL>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c>
                  <a:txBody>
                    <a:bodyPr/>
                    <a:lstStyle/>
                    <a:p>
                      <a:r>
                        <a:rPr sz="1800" b="1">
                          <a:solidFill>
                            <a:srgbClr val="FFFFFF"/>
                          </a:solidFill>
                        </a:rPr>
                        <a:t>Response</a:t>
                      </a:r>
                    </a:p>
                  </a:txBody>
                  <a:tcPr marL="91440" marR="91440" marT="45720" marB="45720">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r>
              <a:tr h="523875">
                <a:tc>
                  <a:txBody>
                    <a:bodyPr/>
                    <a:lstStyle/>
                    <a:p>
                      <a:r>
                        <a:rPr sz="1800" b="0">
                          <a:solidFill>
                            <a:srgbClr val="173654"/>
                          </a:solidFill>
                        </a:rPr>
                        <a:t>Clarify geographic scope</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NJ-only, 585 matched regions</a:t>
                      </a:r>
                    </a:p>
                  </a:txBody>
                  <a:tcPr marL="91440" marR="91440" marT="45720" marB="45720">
                    <a:lnR w="9525">
                      <a:solidFill>
                        <a:srgbClr val="D7E3EF"/>
                      </a:solidFill>
                      <a:prstDash val="solid"/>
                    </a:lnR>
                    <a:lnB w="9525">
                      <a:solidFill>
                        <a:srgbClr val="D7E3EF"/>
                      </a:solidFill>
                      <a:prstDash val="solid"/>
                    </a:lnB>
                    <a:solidFill>
                      <a:srgbClr val="FFFFFF"/>
                    </a:solidFill>
                  </a:tcPr>
                </a:tc>
              </a:tr>
              <a:tr h="523875">
                <a:tc>
                  <a:txBody>
                    <a:bodyPr/>
                    <a:lstStyle/>
                    <a:p>
                      <a:r>
                        <a:rPr sz="1800" b="0">
                          <a:solidFill>
                            <a:srgbClr val="173654"/>
                          </a:solidFill>
                        </a:rPr>
                        <a:t>Define forecast targets</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Daily new cases, days 1 / 2 / 3</a:t>
                      </a:r>
                    </a:p>
                  </a:txBody>
                  <a:tcPr marL="91440" marR="91440" marT="45720" marB="45720">
                    <a:lnR w="9525">
                      <a:solidFill>
                        <a:srgbClr val="D7E3EF"/>
                      </a:solidFill>
                      <a:prstDash val="solid"/>
                    </a:lnR>
                    <a:lnB w="9525">
                      <a:solidFill>
                        <a:srgbClr val="D7E3EF"/>
                      </a:solidFill>
                      <a:prstDash val="solid"/>
                    </a:lnB>
                    <a:solidFill>
                      <a:srgbClr val="E6F0F8"/>
                    </a:solidFill>
                  </a:tcPr>
                </a:tc>
              </a:tr>
              <a:tr h="523875">
                <a:tc>
                  <a:txBody>
                    <a:bodyPr/>
                    <a:lstStyle/>
                    <a:p>
                      <a:r>
                        <a:rPr sz="1800" b="0">
                          <a:solidFill>
                            <a:srgbClr val="173654"/>
                          </a:solidFill>
                        </a:rPr>
                        <a:t>Compare training windows</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30 and 60 days, weekly refits</a:t>
                      </a:r>
                    </a:p>
                  </a:txBody>
                  <a:tcPr marL="91440" marR="91440" marT="45720" marB="45720">
                    <a:lnR w="9525">
                      <a:solidFill>
                        <a:srgbClr val="D7E3EF"/>
                      </a:solidFill>
                      <a:prstDash val="solid"/>
                    </a:lnR>
                    <a:lnB w="9525">
                      <a:solidFill>
                        <a:srgbClr val="D7E3EF"/>
                      </a:solidFill>
                      <a:prstDash val="solid"/>
                    </a:lnB>
                    <a:solidFill>
                      <a:srgbClr val="FFFFFF"/>
                    </a:solidFill>
                  </a:tcPr>
                </a:tc>
              </a:tr>
              <a:tr h="523875">
                <a:tc>
                  <a:txBody>
                    <a:bodyPr/>
                    <a:lstStyle/>
                    <a:p>
                      <a:r>
                        <a:rPr sz="1800" b="0">
                          <a:solidFill>
                            <a:srgbClr val="173654"/>
                          </a:solidFill>
                        </a:rPr>
                        <a:t>Specify validation strategy</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Jan–Jun selection, Jul–Dec check</a:t>
                      </a:r>
                    </a:p>
                  </a:txBody>
                  <a:tcPr marL="91440" marR="91440" marT="45720" marB="45720">
                    <a:lnR w="9525">
                      <a:solidFill>
                        <a:srgbClr val="D7E3EF"/>
                      </a:solidFill>
                      <a:prstDash val="solid"/>
                    </a:lnR>
                    <a:lnB w="9525">
                      <a:solidFill>
                        <a:srgbClr val="D7E3EF"/>
                      </a:solidFill>
                      <a:prstDash val="solid"/>
                    </a:lnB>
                    <a:solidFill>
                      <a:srgbClr val="E6F0F8"/>
                    </a:solidFill>
                  </a:tcPr>
                </a:tc>
              </a:tr>
              <a:tr h="523875">
                <a:tc>
                  <a:txBody>
                    <a:bodyPr/>
                    <a:lstStyle/>
                    <a:p>
                      <a:r>
                        <a:rPr sz="1800" b="0">
                          <a:solidFill>
                            <a:srgbClr val="173654"/>
                          </a:solidFill>
                        </a:rPr>
                        <a:t>Clarify model choice</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Dynamic Panel FE baseline</a:t>
                      </a:r>
                    </a:p>
                  </a:txBody>
                  <a:tcPr marL="91440" marR="91440" marT="45720" marB="45720">
                    <a:lnR w="9525">
                      <a:solidFill>
                        <a:srgbClr val="D7E3EF"/>
                      </a:solidFill>
                      <a:prstDash val="solid"/>
                    </a:lnR>
                    <a:lnB w="9525">
                      <a:solidFill>
                        <a:srgbClr val="D7E3E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A725FC-4A67-49C6-B5C1-CE8ED79B189B}"/>
              </a:ext>
            </a:extLst>
          </p:cNvPr>
          <p:cNvSpPr>
            <a:spLocks xmlns:a="http://schemas.openxmlformats.org/drawingml/2006/main" noGrp="1"/>
          </p:cNvSpPr>
          <p:nvPr/>
        </p:nvSpPr>
        <p:spPr>
          <a:xfrm xmlns:a="http://schemas.openxmlformats.org/drawingml/2006/main">
            <a:off x="571500" y="50006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654"/>
                </a:solidFill>
              </a:defRPr>
            </a:defPPr>
            <a:lvl1pPr>
              <a:defRPr sz="2400" b="1">
                <a:solidFill>
                  <a:srgbClr val="173654"/>
                </a:solidFill>
              </a:defRPr>
            </a:lvl1pPr>
            <a:lvl2pPr>
              <a:defRPr sz="2400" b="1">
                <a:solidFill>
                  <a:srgbClr val="173654"/>
                </a:solidFill>
              </a:defRPr>
            </a:lvl2pPr>
            <a:lvl3pPr>
              <a:defRPr sz="2400" b="1">
                <a:solidFill>
                  <a:srgbClr val="173654"/>
                </a:solidFill>
              </a:defRPr>
            </a:lvl3pPr>
            <a:lvl4pPr>
              <a:defRPr sz="2400" b="1">
                <a:solidFill>
                  <a:srgbClr val="173654"/>
                </a:solidFill>
              </a:defRPr>
            </a:lvl4pPr>
            <a:lvl5pPr>
              <a:defRPr sz="2400" b="1">
                <a:solidFill>
                  <a:srgbClr val="173654"/>
                </a:solidFill>
              </a:defRPr>
            </a:lvl5pPr>
            <a:lvl6pPr>
              <a:defRPr sz="2400" b="1">
                <a:solidFill>
                  <a:srgbClr val="173654"/>
                </a:solidFill>
              </a:defRPr>
            </a:lvl6pPr>
            <a:lvl7pPr>
              <a:defRPr sz="2400" b="1">
                <a:solidFill>
                  <a:srgbClr val="173654"/>
                </a:solidFill>
              </a:defRPr>
            </a:lvl7pPr>
            <a:lvl8pPr>
              <a:defRPr sz="2400" b="1">
                <a:solidFill>
                  <a:srgbClr val="173654"/>
                </a:solidFill>
              </a:defRPr>
            </a:lvl8pPr>
            <a:lvl9pPr>
              <a:defRPr sz="2400" b="1">
                <a:solidFill>
                  <a:srgbClr val="173654"/>
                </a:solidFill>
              </a:defRPr>
            </a:lvl9pPr>
          </a:lstStyle>
          <a:p xmlns:a="http://schemas.openxmlformats.org/drawingml/2006/main">
            <a:pPr>
              <a:defRPr sz="2400" b="1">
                <a:solidFill>
                  <a:srgbClr val="173654"/>
                </a:solidFill>
              </a:defRPr>
            </a:pPr>
            <a:r>
              <a:rPr sz="2400" b="1">
                <a:solidFill>
                  <a:srgbClr val="173654"/>
                </a:solidFill>
              </a:rPr>
              <a:t>34 full columns</a:t>
            </a:r>
          </a:p>
        </p:txBody>
      </p:sp>
      <p:sp>
        <p:nvSpPr>
          <p:cNvPr id="5" name="">
            <a:extLst xmlns:a="http://schemas.openxmlformats.org/drawingml/2006/main">
              <a:ext uri="{FF2B5EF4-FFF2-40B4-BE49-F238E27FC236}">
                <a16:creationId xmlns:a16="http://schemas.microsoft.com/office/drawing/2014/main" id="{C6BBE56A-4F35-4B81-BB4B-6BC806AA4492}"/>
              </a:ext>
            </a:extLst>
          </p:cNvPr>
          <p:cNvSpPr>
            <a:spLocks xmlns:a="http://schemas.openxmlformats.org/drawingml/2006/main" noGrp="1"/>
          </p:cNvSpPr>
          <p:nvPr/>
        </p:nvSpPr>
        <p:spPr>
          <a:xfrm xmlns:a="http://schemas.openxmlformats.org/drawingml/2006/main">
            <a:off x="4381500" y="50006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563EB"/>
                </a:solidFill>
              </a:defRPr>
            </a:defPPr>
            <a:lvl1pPr>
              <a:defRPr sz="2400" b="1">
                <a:solidFill>
                  <a:srgbClr val="2563EB"/>
                </a:solidFill>
              </a:defRPr>
            </a:lvl1pPr>
            <a:lvl2pPr>
              <a:defRPr sz="2400" b="1">
                <a:solidFill>
                  <a:srgbClr val="2563EB"/>
                </a:solidFill>
              </a:defRPr>
            </a:lvl2pPr>
            <a:lvl3pPr>
              <a:defRPr sz="2400" b="1">
                <a:solidFill>
                  <a:srgbClr val="2563EB"/>
                </a:solidFill>
              </a:defRPr>
            </a:lvl3pPr>
            <a:lvl4pPr>
              <a:defRPr sz="2400" b="1">
                <a:solidFill>
                  <a:srgbClr val="2563EB"/>
                </a:solidFill>
              </a:defRPr>
            </a:lvl4pPr>
            <a:lvl5pPr>
              <a:defRPr sz="2400" b="1">
                <a:solidFill>
                  <a:srgbClr val="2563EB"/>
                </a:solidFill>
              </a:defRPr>
            </a:lvl5pPr>
            <a:lvl6pPr>
              <a:defRPr sz="2400" b="1">
                <a:solidFill>
                  <a:srgbClr val="2563EB"/>
                </a:solidFill>
              </a:defRPr>
            </a:lvl6pPr>
            <a:lvl7pPr>
              <a:defRPr sz="2400" b="1">
                <a:solidFill>
                  <a:srgbClr val="2563EB"/>
                </a:solidFill>
              </a:defRPr>
            </a:lvl7pPr>
            <a:lvl8pPr>
              <a:defRPr sz="2400" b="1">
                <a:solidFill>
                  <a:srgbClr val="2563EB"/>
                </a:solidFill>
              </a:defRPr>
            </a:lvl8pPr>
            <a:lvl9pPr>
              <a:defRPr sz="2400" b="1">
                <a:solidFill>
                  <a:srgbClr val="2563EB"/>
                </a:solidFill>
              </a:defRPr>
            </a:lvl9pPr>
          </a:lstStyle>
          <a:p xmlns:a="http://schemas.openxmlformats.org/drawingml/2006/main">
            <a:pPr>
              <a:defRPr sz="2400" b="1">
                <a:solidFill>
                  <a:srgbClr val="2563EB"/>
                </a:solidFill>
              </a:defRPr>
            </a:pPr>
            <a:r>
              <a:rPr sz="2400" b="1">
                <a:solidFill>
                  <a:srgbClr val="2563EB"/>
                </a:solidFill>
              </a:rPr>
              <a:t>21 Backward</a:t>
            </a:r>
          </a:p>
        </p:txBody>
      </p:sp>
      <p:sp>
        <p:nvSpPr>
          <p:cNvPr id="6" name="">
            <a:extLst xmlns:a="http://schemas.openxmlformats.org/drawingml/2006/main">
              <a:ext uri="{FF2B5EF4-FFF2-40B4-BE49-F238E27FC236}">
                <a16:creationId xmlns:a16="http://schemas.microsoft.com/office/drawing/2014/main" id="{87383EA7-4D7D-43D2-846B-3A641CACAECD}"/>
              </a:ext>
            </a:extLst>
          </p:cNvPr>
          <p:cNvSpPr>
            <a:spLocks xmlns:a="http://schemas.openxmlformats.org/drawingml/2006/main" noGrp="1"/>
          </p:cNvSpPr>
          <p:nvPr/>
        </p:nvSpPr>
        <p:spPr>
          <a:xfrm xmlns:a="http://schemas.openxmlformats.org/drawingml/2006/main">
            <a:off x="8001000" y="5000625"/>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78"/>
                </a:solidFill>
              </a:defRPr>
            </a:defPPr>
            <a:lvl1pPr>
              <a:defRPr sz="2250" b="1">
                <a:solidFill>
                  <a:srgbClr val="087F78"/>
                </a:solidFill>
              </a:defRPr>
            </a:lvl1pPr>
            <a:lvl2pPr>
              <a:defRPr sz="2250" b="1">
                <a:solidFill>
                  <a:srgbClr val="087F78"/>
                </a:solidFill>
              </a:defRPr>
            </a:lvl2pPr>
            <a:lvl3pPr>
              <a:defRPr sz="2250" b="1">
                <a:solidFill>
                  <a:srgbClr val="087F78"/>
                </a:solidFill>
              </a:defRPr>
            </a:lvl3pPr>
            <a:lvl4pPr>
              <a:defRPr sz="2250" b="1">
                <a:solidFill>
                  <a:srgbClr val="087F78"/>
                </a:solidFill>
              </a:defRPr>
            </a:lvl4pPr>
            <a:lvl5pPr>
              <a:defRPr sz="2250" b="1">
                <a:solidFill>
                  <a:srgbClr val="087F78"/>
                </a:solidFill>
              </a:defRPr>
            </a:lvl5pPr>
            <a:lvl6pPr>
              <a:defRPr sz="2250" b="1">
                <a:solidFill>
                  <a:srgbClr val="087F78"/>
                </a:solidFill>
              </a:defRPr>
            </a:lvl6pPr>
            <a:lvl7pPr>
              <a:defRPr sz="2250" b="1">
                <a:solidFill>
                  <a:srgbClr val="087F78"/>
                </a:solidFill>
              </a:defRPr>
            </a:lvl7pPr>
            <a:lvl8pPr>
              <a:defRPr sz="2250" b="1">
                <a:solidFill>
                  <a:srgbClr val="087F78"/>
                </a:solidFill>
              </a:defRPr>
            </a:lvl8pPr>
            <a:lvl9pPr>
              <a:defRPr sz="2250" b="1">
                <a:solidFill>
                  <a:srgbClr val="087F78"/>
                </a:solidFill>
              </a:defRPr>
            </a:lvl9pPr>
          </a:lstStyle>
          <a:p xmlns:a="http://schemas.openxmlformats.org/drawingml/2006/main">
            <a:pPr>
              <a:defRPr sz="2250" b="1">
                <a:solidFill>
                  <a:srgbClr val="087F78"/>
                </a:solidFill>
              </a:defRPr>
            </a:pPr>
            <a:r>
              <a:rPr sz="2250" b="1">
                <a:solidFill>
                  <a:srgbClr val="087F78"/>
                </a:solidFill>
              </a:rPr>
              <a:t>9 Forward / Stepwise</a:t>
            </a:r>
          </a:p>
        </p:txBody>
      </p:sp>
      <p:sp>
        <p:nvSpPr>
          <p:cNvPr id="7" name="">
            <a:extLst xmlns:a="http://schemas.openxmlformats.org/drawingml/2006/main">
              <a:ext uri="{FF2B5EF4-FFF2-40B4-BE49-F238E27FC236}">
                <a16:creationId xmlns:a16="http://schemas.microsoft.com/office/drawing/2014/main" id="{77339A82-2049-48D6-A0E4-F29E63E2371E}"/>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Same evaluation rows throughout. Counts include weekday encoding. ZIP fixed effects are additional.</a:t>
            </a:r>
          </a:p>
        </p:txBody>
      </p:sp>
    </p:spTree>
    <p:extLst>
      <p:ext uri="{BB962C8B-B14F-4D97-AF65-F5344CB8AC3E}">
        <p14:creationId xmlns:p14="http://schemas.microsoft.com/office/powerpoint/2010/main" val="285492128"/>
      </p:ext>
    </p:extLst>
  </p:cSld>
</p:sld>
</file>

<file path=ppt/slides/slide4.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A3FB34-985E-477B-8238-61B2412E6F1A}"/>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60-day windows reduce average validation error</a:t>
            </a:r>
          </a:p>
        </p:txBody>
      </p:sp>
      <p:sp>
        <p:nvSpPr>
          <p:cNvPr id="2" name="">
            <a:extLst xmlns:a="http://schemas.openxmlformats.org/drawingml/2006/main">
              <a:ext uri="{FF2B5EF4-FFF2-40B4-BE49-F238E27FC236}">
                <a16:creationId xmlns:a16="http://schemas.microsoft.com/office/drawing/2014/main" id="{93081FE3-A437-4714-9860-37BFC9A767C8}"/>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04</a:t>
            </a:r>
          </a:p>
        </p:txBody>
      </p:sp>
      <p:graphicFrame>
        <p:nvGraphicFramePr>
          <p:cNvPr id="3" name="Chart">
            <a:extLst xmlns:a="http://schemas.openxmlformats.org/drawingml/2006/main">
              <a:ext uri="{FF2B5EF4-FFF2-40B4-BE49-F238E27FC236}">
                <a16:creationId xmlns:a16="http://schemas.microsoft.com/office/drawing/2014/main" id="{61B2A5CF-696C-4667-9B14-1231662018CF}"/>
              </a:ext>
            </a:extLst>
          </p:cNvPr>
          <p:cNvGraphicFramePr/>
          <p:nvPr/>
        </p:nvGraphicFramePr>
        <p:xfrm>
          <a:off xmlns:a="http://schemas.openxmlformats.org/drawingml/2006/main" x="571500" y="1571625"/>
          <a:ext xmlns:a="http://schemas.openxmlformats.org/drawingml/2006/main" cx="11049000" cy="3810000"/>
        </p:xfrm>
        <a:graphic xmlns:a="http://schemas.openxmlformats.org/drawingml/2006/main">
          <a:graphicData uri="http://schemas.openxmlformats.org/drawingml/2006/chart">
            <c:chart xmlns:r="http://schemas.openxmlformats.org/officeDocument/2006/relationships" xmlns:c="http://schemas.openxmlformats.org/drawingml/2006/chart" r:id="Rf76a7ea5720540b4"/>
          </a:graphicData>
        </a:graphic>
      </p:graphicFrame>
      <p:sp>
        <p:nvSpPr>
          <p:cNvPr id="4" name="">
            <a:extLst xmlns:a="http://schemas.openxmlformats.org/drawingml/2006/main">
              <a:ext uri="{FF2B5EF4-FFF2-40B4-BE49-F238E27FC236}">
                <a16:creationId xmlns:a16="http://schemas.microsoft.com/office/drawing/2014/main" id="{F692692D-63C1-406B-8061-FF16CB31A467}"/>
              </a:ext>
            </a:extLst>
          </p:cNvPr>
          <p:cNvSpPr>
            <a:spLocks xmlns:a="http://schemas.openxmlformats.org/drawingml/2006/main" noGrp="1"/>
          </p:cNvSpPr>
          <p:nvPr/>
        </p:nvSpPr>
        <p:spPr>
          <a:xfrm xmlns:a="http://schemas.openxmlformats.org/drawingml/2006/main">
            <a:off x="571500" y="5572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54"/>
                </a:solidFill>
              </a:defRPr>
            </a:defPPr>
            <a:lvl1pPr>
              <a:defRPr sz="1950" b="1">
                <a:solidFill>
                  <a:srgbClr val="173654"/>
                </a:solidFill>
              </a:defRPr>
            </a:lvl1pPr>
            <a:lvl2pPr>
              <a:defRPr sz="1950" b="1">
                <a:solidFill>
                  <a:srgbClr val="173654"/>
                </a:solidFill>
              </a:defRPr>
            </a:lvl2pPr>
            <a:lvl3pPr>
              <a:defRPr sz="1950" b="1">
                <a:solidFill>
                  <a:srgbClr val="173654"/>
                </a:solidFill>
              </a:defRPr>
            </a:lvl3pPr>
            <a:lvl4pPr>
              <a:defRPr sz="1950" b="1">
                <a:solidFill>
                  <a:srgbClr val="173654"/>
                </a:solidFill>
              </a:defRPr>
            </a:lvl4pPr>
            <a:lvl5pPr>
              <a:defRPr sz="1950" b="1">
                <a:solidFill>
                  <a:srgbClr val="173654"/>
                </a:solidFill>
              </a:defRPr>
            </a:lvl5pPr>
            <a:lvl6pPr>
              <a:defRPr sz="1950" b="1">
                <a:solidFill>
                  <a:srgbClr val="173654"/>
                </a:solidFill>
              </a:defRPr>
            </a:lvl6pPr>
            <a:lvl7pPr>
              <a:defRPr sz="1950" b="1">
                <a:solidFill>
                  <a:srgbClr val="173654"/>
                </a:solidFill>
              </a:defRPr>
            </a:lvl7pPr>
            <a:lvl8pPr>
              <a:defRPr sz="1950" b="1">
                <a:solidFill>
                  <a:srgbClr val="173654"/>
                </a:solidFill>
              </a:defRPr>
            </a:lvl8pPr>
            <a:lvl9pPr>
              <a:defRPr sz="1950" b="1">
                <a:solidFill>
                  <a:srgbClr val="173654"/>
                </a:solidFill>
              </a:defRPr>
            </a:lvl9pPr>
          </a:lstStyle>
          <a:p xmlns:a="http://schemas.openxmlformats.org/drawingml/2006/main">
            <a:pPr>
              <a:defRPr sz="1950" b="1">
                <a:solidFill>
                  <a:srgbClr val="173654"/>
                </a:solidFill>
              </a:defRPr>
            </a:pPr>
            <a:r>
              <a:rPr sz="1950" b="1">
                <a:solidFill>
                  <a:srgbClr val="173654"/>
                </a:solidFill>
              </a:rPr>
              <a:t>MAE, averaged across days 1 / 2 / 3</a:t>
            </a:r>
          </a:p>
        </p:txBody>
      </p:sp>
      <p:sp>
        <p:nvSpPr>
          <p:cNvPr id="5" name="">
            <a:extLst xmlns:a="http://schemas.openxmlformats.org/drawingml/2006/main">
              <a:ext uri="{FF2B5EF4-FFF2-40B4-BE49-F238E27FC236}">
                <a16:creationId xmlns:a16="http://schemas.microsoft.com/office/drawing/2014/main" id="{09D8AE51-067F-46DD-8CB6-1DC8E37A4BCD}"/>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Later-2021 validation. Feature lists stay fixed when the training window changes.</a:t>
            </a:r>
          </a:p>
        </p:txBody>
      </p:sp>
    </p:spTree>
    <p:extLst>
      <p:ext uri="{BB962C8B-B14F-4D97-AF65-F5344CB8AC3E}">
        <p14:creationId xmlns:p14="http://schemas.microsoft.com/office/powerpoint/2010/main" val="530309939"/>
      </p:ext>
    </p:extLst>
  </p:cSld>
</p:sld>
</file>

<file path=ppt/slides/slide5.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1F08D9-465B-4B0E-81A5-1D5BBD019F0E}"/>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Dynamic panel beats simple forecast benchmarks</a:t>
            </a:r>
          </a:p>
        </p:txBody>
      </p:sp>
      <p:sp>
        <p:nvSpPr>
          <p:cNvPr id="2" name="">
            <a:extLst xmlns:a="http://schemas.openxmlformats.org/drawingml/2006/main">
              <a:ext uri="{FF2B5EF4-FFF2-40B4-BE49-F238E27FC236}">
                <a16:creationId xmlns:a16="http://schemas.microsoft.com/office/drawing/2014/main" id="{2183DA19-5D60-4752-9C2A-2D0819F53BBC}"/>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05</a:t>
            </a:r>
          </a:p>
        </p:txBody>
      </p:sp>
      <p:graphicFrame>
        <p:nvGraphicFramePr>
          <p:cNvPr id="3" name="Chart">
            <a:extLst xmlns:a="http://schemas.openxmlformats.org/drawingml/2006/main">
              <a:ext uri="{FF2B5EF4-FFF2-40B4-BE49-F238E27FC236}">
                <a16:creationId xmlns:a16="http://schemas.microsoft.com/office/drawing/2014/main" id="{4CD7F80C-7FAC-49E2-AB51-3FA993EF3777}"/>
              </a:ext>
            </a:extLst>
          </p:cNvPr>
          <p:cNvGraphicFramePr/>
          <p:nvPr/>
        </p:nvGraphicFramePr>
        <p:xfrm>
          <a:off xmlns:a="http://schemas.openxmlformats.org/drawingml/2006/main" x="571500" y="1571625"/>
          <a:ext xmlns:a="http://schemas.openxmlformats.org/drawingml/2006/main" cx="11049000" cy="3619500"/>
        </p:xfrm>
        <a:graphic xmlns:a="http://schemas.openxmlformats.org/drawingml/2006/main">
          <a:graphicData uri="http://schemas.openxmlformats.org/drawingml/2006/chart">
            <c:chart xmlns:r="http://schemas.openxmlformats.org/officeDocument/2006/relationships" xmlns:c="http://schemas.openxmlformats.org/drawingml/2006/chart" r:id="R5d747e5e7e3a455f"/>
          </a:graphicData>
        </a:graphic>
      </p:graphicFrame>
      <p:sp>
        <p:nvSpPr>
          <p:cNvPr id="4" name="">
            <a:extLst xmlns:a="http://schemas.openxmlformats.org/drawingml/2006/main">
              <a:ext uri="{FF2B5EF4-FFF2-40B4-BE49-F238E27FC236}">
                <a16:creationId xmlns:a16="http://schemas.microsoft.com/office/drawing/2014/main" id="{9ADF8FBC-B038-415C-A663-6DCC360B9D3B}"/>
              </a:ext>
            </a:extLst>
          </p:cNvPr>
          <p:cNvSpPr>
            <a:spLocks xmlns:a="http://schemas.openxmlformats.org/drawingml/2006/main" noGrp="1"/>
          </p:cNvSpPr>
          <p:nvPr/>
        </p:nvSpPr>
        <p:spPr>
          <a:xfrm xmlns:a="http://schemas.openxmlformats.org/drawingml/2006/main">
            <a:off x="571500" y="538162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F78"/>
                </a:solidFill>
              </a:defRPr>
            </a:defPPr>
            <a:lvl1pPr>
              <a:defRPr sz="2700" b="1">
                <a:solidFill>
                  <a:srgbClr val="087F78"/>
                </a:solidFill>
              </a:defRPr>
            </a:lvl1pPr>
            <a:lvl2pPr>
              <a:defRPr sz="2700" b="1">
                <a:solidFill>
                  <a:srgbClr val="087F78"/>
                </a:solidFill>
              </a:defRPr>
            </a:lvl2pPr>
            <a:lvl3pPr>
              <a:defRPr sz="2700" b="1">
                <a:solidFill>
                  <a:srgbClr val="087F78"/>
                </a:solidFill>
              </a:defRPr>
            </a:lvl3pPr>
            <a:lvl4pPr>
              <a:defRPr sz="2700" b="1">
                <a:solidFill>
                  <a:srgbClr val="087F78"/>
                </a:solidFill>
              </a:defRPr>
            </a:lvl4pPr>
            <a:lvl5pPr>
              <a:defRPr sz="2700" b="1">
                <a:solidFill>
                  <a:srgbClr val="087F78"/>
                </a:solidFill>
              </a:defRPr>
            </a:lvl5pPr>
            <a:lvl6pPr>
              <a:defRPr sz="2700" b="1">
                <a:solidFill>
                  <a:srgbClr val="087F78"/>
                </a:solidFill>
              </a:defRPr>
            </a:lvl6pPr>
            <a:lvl7pPr>
              <a:defRPr sz="2700" b="1">
                <a:solidFill>
                  <a:srgbClr val="087F78"/>
                </a:solidFill>
              </a:defRPr>
            </a:lvl7pPr>
            <a:lvl8pPr>
              <a:defRPr sz="2700" b="1">
                <a:solidFill>
                  <a:srgbClr val="087F78"/>
                </a:solidFill>
              </a:defRPr>
            </a:lvl8pPr>
            <a:lvl9pPr>
              <a:defRPr sz="2700" b="1">
                <a:solidFill>
                  <a:srgbClr val="087F78"/>
                </a:solidFill>
              </a:defRPr>
            </a:lvl9pPr>
          </a:lstStyle>
          <a:p xmlns:a="http://schemas.openxmlformats.org/drawingml/2006/main">
            <a:pPr>
              <a:defRPr sz="2700" b="1">
                <a:solidFill>
                  <a:srgbClr val="087F78"/>
                </a:solidFill>
              </a:defRPr>
            </a:pPr>
            <a:r>
              <a:rPr sz="2700" b="1">
                <a:solidFill>
                  <a:srgbClr val="087F78"/>
                </a:solidFill>
              </a:rPr>
              <a:t>13.5% lower MAE</a:t>
            </a:r>
          </a:p>
        </p:txBody>
      </p:sp>
      <p:sp>
        <p:nvSpPr>
          <p:cNvPr id="5" name="">
            <a:extLst xmlns:a="http://schemas.openxmlformats.org/drawingml/2006/main">
              <a:ext uri="{FF2B5EF4-FFF2-40B4-BE49-F238E27FC236}">
                <a16:creationId xmlns:a16="http://schemas.microsoft.com/office/drawing/2014/main" id="{5915E52A-3C60-4F9F-BBBD-C5370A9CA81C}"/>
              </a:ext>
            </a:extLst>
          </p:cNvPr>
          <p:cNvSpPr>
            <a:spLocks xmlns:a="http://schemas.openxmlformats.org/drawingml/2006/main" noGrp="1"/>
          </p:cNvSpPr>
          <p:nvPr/>
        </p:nvSpPr>
        <p:spPr>
          <a:xfrm xmlns:a="http://schemas.openxmlformats.org/drawingml/2006/main">
            <a:off x="6191250" y="54768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77D"/>
                </a:solidFill>
              </a:defRPr>
            </a:defPPr>
            <a:lvl1pPr>
              <a:defRPr sz="1875" b="0">
                <a:solidFill>
                  <a:srgbClr val="53677D"/>
                </a:solidFill>
              </a:defRPr>
            </a:lvl1pPr>
            <a:lvl2pPr>
              <a:defRPr sz="1875" b="0">
                <a:solidFill>
                  <a:srgbClr val="53677D"/>
                </a:solidFill>
              </a:defRPr>
            </a:lvl2pPr>
            <a:lvl3pPr>
              <a:defRPr sz="1875" b="0">
                <a:solidFill>
                  <a:srgbClr val="53677D"/>
                </a:solidFill>
              </a:defRPr>
            </a:lvl3pPr>
            <a:lvl4pPr>
              <a:defRPr sz="1875" b="0">
                <a:solidFill>
                  <a:srgbClr val="53677D"/>
                </a:solidFill>
              </a:defRPr>
            </a:lvl4pPr>
            <a:lvl5pPr>
              <a:defRPr sz="1875" b="0">
                <a:solidFill>
                  <a:srgbClr val="53677D"/>
                </a:solidFill>
              </a:defRPr>
            </a:lvl5pPr>
            <a:lvl6pPr>
              <a:defRPr sz="1875" b="0">
                <a:solidFill>
                  <a:srgbClr val="53677D"/>
                </a:solidFill>
              </a:defRPr>
            </a:lvl6pPr>
            <a:lvl7pPr>
              <a:defRPr sz="1875" b="0">
                <a:solidFill>
                  <a:srgbClr val="53677D"/>
                </a:solidFill>
              </a:defRPr>
            </a:lvl7pPr>
            <a:lvl8pPr>
              <a:defRPr sz="1875" b="0">
                <a:solidFill>
                  <a:srgbClr val="53677D"/>
                </a:solidFill>
              </a:defRPr>
            </a:lvl8pPr>
            <a:lvl9pPr>
              <a:defRPr sz="1875" b="0">
                <a:solidFill>
                  <a:srgbClr val="53677D"/>
                </a:solidFill>
              </a:defRPr>
            </a:lvl9pPr>
          </a:lstStyle>
          <a:p xmlns:a="http://schemas.openxmlformats.org/drawingml/2006/main">
            <a:pPr>
              <a:defRPr sz="1875" b="0">
                <a:solidFill>
                  <a:srgbClr val="53677D"/>
                </a:solidFill>
              </a:defRPr>
            </a:pPr>
            <a:r>
              <a:rPr sz="1875" b="0">
                <a:solidFill>
                  <a:srgbClr val="53677D"/>
                </a:solidFill>
              </a:rPr>
              <a:t>Pressure model vs “future = today”</a:t>
            </a:r>
          </a:p>
        </p:txBody>
      </p:sp>
      <p:sp>
        <p:nvSpPr>
          <p:cNvPr id="6" name="">
            <a:extLst xmlns:a="http://schemas.openxmlformats.org/drawingml/2006/main">
              <a:ext uri="{FF2B5EF4-FFF2-40B4-BE49-F238E27FC236}">
                <a16:creationId xmlns:a16="http://schemas.microsoft.com/office/drawing/2014/main" id="{5E301B12-75A4-4552-B90C-A4F2EA380E85}"/>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Later-2021 validation. Local history = current cases + 7-day mean + weekday controls + ZIP fixed effects.</a:t>
            </a:r>
          </a:p>
        </p:txBody>
      </p:sp>
    </p:spTree>
    <p:extLst>
      <p:ext uri="{BB962C8B-B14F-4D97-AF65-F5344CB8AC3E}">
        <p14:creationId xmlns:p14="http://schemas.microsoft.com/office/powerpoint/2010/main" val="1990068975"/>
      </p:ext>
    </p:extLst>
  </p:cSld>
</p:sld>
</file>

<file path=ppt/slides/slide6.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68C1E2-E1CA-45B2-AB00-2124B4610F00}"/>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Pressure gains vary by period and metric</a:t>
            </a:r>
          </a:p>
        </p:txBody>
      </p:sp>
      <p:sp>
        <p:nvSpPr>
          <p:cNvPr id="2" name="">
            <a:extLst xmlns:a="http://schemas.openxmlformats.org/drawingml/2006/main">
              <a:ext uri="{FF2B5EF4-FFF2-40B4-BE49-F238E27FC236}">
                <a16:creationId xmlns:a16="http://schemas.microsoft.com/office/drawing/2014/main" id="{5FE3848A-8756-4BC7-8343-99CA9A1925AF}"/>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06</a:t>
            </a:r>
          </a:p>
        </p:txBody>
      </p:sp>
      <p:sp>
        <p:nvSpPr>
          <p:cNvPr id="3" name="">
            <a:extLst xmlns:a="http://schemas.openxmlformats.org/drawingml/2006/main">
              <a:ext uri="{FF2B5EF4-FFF2-40B4-BE49-F238E27FC236}">
                <a16:creationId xmlns:a16="http://schemas.microsoft.com/office/drawing/2014/main" id="{6A44A189-1CEE-4064-AC11-EBAD9F01A01C}"/>
              </a:ext>
            </a:extLst>
          </p:cNvPr>
          <p:cNvSpPr>
            <a:spLocks xmlns:a="http://schemas.openxmlformats.org/drawingml/2006/main" noGrp="1"/>
          </p:cNvSpPr>
          <p:nvPr/>
        </p:nvSpPr>
        <p:spPr>
          <a:xfrm xmlns:a="http://schemas.openxmlformats.org/drawingml/2006/main">
            <a:off x="571500" y="1238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7D"/>
                </a:solidFill>
              </a:defRPr>
            </a:defPPr>
            <a:lvl1pPr>
              <a:defRPr sz="1950" b="0">
                <a:solidFill>
                  <a:srgbClr val="53677D"/>
                </a:solidFill>
              </a:defRPr>
            </a:lvl1pPr>
            <a:lvl2pPr>
              <a:defRPr sz="1950" b="0">
                <a:solidFill>
                  <a:srgbClr val="53677D"/>
                </a:solidFill>
              </a:defRPr>
            </a:lvl2pPr>
            <a:lvl3pPr>
              <a:defRPr sz="1950" b="0">
                <a:solidFill>
                  <a:srgbClr val="53677D"/>
                </a:solidFill>
              </a:defRPr>
            </a:lvl3pPr>
            <a:lvl4pPr>
              <a:defRPr sz="1950" b="0">
                <a:solidFill>
                  <a:srgbClr val="53677D"/>
                </a:solidFill>
              </a:defRPr>
            </a:lvl4pPr>
            <a:lvl5pPr>
              <a:defRPr sz="1950" b="0">
                <a:solidFill>
                  <a:srgbClr val="53677D"/>
                </a:solidFill>
              </a:defRPr>
            </a:lvl5pPr>
            <a:lvl6pPr>
              <a:defRPr sz="1950" b="0">
                <a:solidFill>
                  <a:srgbClr val="53677D"/>
                </a:solidFill>
              </a:defRPr>
            </a:lvl6pPr>
            <a:lvl7pPr>
              <a:defRPr sz="1950" b="0">
                <a:solidFill>
                  <a:srgbClr val="53677D"/>
                </a:solidFill>
              </a:defRPr>
            </a:lvl7pPr>
            <a:lvl8pPr>
              <a:defRPr sz="1950" b="0">
                <a:solidFill>
                  <a:srgbClr val="53677D"/>
                </a:solidFill>
              </a:defRPr>
            </a:lvl8pPr>
            <a:lvl9pPr>
              <a:defRPr sz="1950" b="0">
                <a:solidFill>
                  <a:srgbClr val="53677D"/>
                </a:solidFill>
              </a:defRPr>
            </a:lvl9pPr>
          </a:lstStyle>
          <a:p xmlns:a="http://schemas.openxmlformats.org/drawingml/2006/main">
            <a:pPr>
              <a:defRPr sz="1950" b="0">
                <a:solidFill>
                  <a:srgbClr val="53677D"/>
                </a:solidFill>
              </a:defRPr>
            </a:pPr>
            <a:r>
              <a:rPr sz="1950" b="0">
                <a:solidFill>
                  <a:srgbClr val="53677D"/>
                </a:solidFill>
              </a:rPr>
              <a:t>Positive bars favor Pressure</a:t>
            </a:r>
          </a:p>
        </p:txBody>
      </p:sp>
      <p:graphicFrame>
        <p:nvGraphicFramePr>
          <p:cNvPr id="4" name="Chart">
            <a:extLst xmlns:a="http://schemas.openxmlformats.org/drawingml/2006/main">
              <a:ext uri="{FF2B5EF4-FFF2-40B4-BE49-F238E27FC236}">
                <a16:creationId xmlns:a16="http://schemas.microsoft.com/office/drawing/2014/main" id="{BFA75653-478D-4C0D-A25B-25745C37CECD}"/>
              </a:ext>
            </a:extLst>
          </p:cNvPr>
          <p:cNvGraphicFramePr/>
          <p:nvPr/>
        </p:nvGraphicFramePr>
        <p:xfrm>
          <a:off xmlns:a="http://schemas.openxmlformats.org/drawingml/2006/main" x="571500" y="1762125"/>
          <a:ext xmlns:a="http://schemas.openxmlformats.org/drawingml/2006/main" cx="11049000" cy="3143250"/>
        </p:xfrm>
        <a:graphic xmlns:a="http://schemas.openxmlformats.org/drawingml/2006/main">
          <a:graphicData uri="http://schemas.openxmlformats.org/drawingml/2006/chart">
            <c:chart xmlns:r="http://schemas.openxmlformats.org/officeDocument/2006/relationships" xmlns:c="http://schemas.openxmlformats.org/drawingml/2006/chart" r:id="R9e641252ba6e4e4b"/>
          </a:graphicData>
        </a:graphic>
      </p:graphicFrame>
      <p:sp>
        <p:nvSpPr>
          <p:cNvPr id="5" name="">
            <a:extLst xmlns:a="http://schemas.openxmlformats.org/drawingml/2006/main">
              <a:ext uri="{FF2B5EF4-FFF2-40B4-BE49-F238E27FC236}">
                <a16:creationId xmlns:a16="http://schemas.microsoft.com/office/drawing/2014/main" id="{7B43525F-295E-46E5-AF31-4CBFAC39B7D3}"/>
              </a:ext>
            </a:extLst>
          </p:cNvPr>
          <p:cNvSpPr>
            <a:spLocks xmlns:a="http://schemas.openxmlformats.org/drawingml/2006/main" noGrp="1"/>
          </p:cNvSpPr>
          <p:nvPr/>
        </p:nvSpPr>
        <p:spPr>
          <a:xfrm xmlns:a="http://schemas.openxmlformats.org/drawingml/2006/main">
            <a:off x="571500" y="5238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654"/>
                </a:solidFill>
              </a:defRPr>
            </a:defPPr>
            <a:lvl1pPr>
              <a:defRPr sz="2550" b="1">
                <a:solidFill>
                  <a:srgbClr val="173654"/>
                </a:solidFill>
              </a:defRPr>
            </a:lvl1pPr>
            <a:lvl2pPr>
              <a:defRPr sz="2550" b="1">
                <a:solidFill>
                  <a:srgbClr val="173654"/>
                </a:solidFill>
              </a:defRPr>
            </a:lvl2pPr>
            <a:lvl3pPr>
              <a:defRPr sz="2550" b="1">
                <a:solidFill>
                  <a:srgbClr val="173654"/>
                </a:solidFill>
              </a:defRPr>
            </a:lvl3pPr>
            <a:lvl4pPr>
              <a:defRPr sz="2550" b="1">
                <a:solidFill>
                  <a:srgbClr val="173654"/>
                </a:solidFill>
              </a:defRPr>
            </a:lvl4pPr>
            <a:lvl5pPr>
              <a:defRPr sz="2550" b="1">
                <a:solidFill>
                  <a:srgbClr val="173654"/>
                </a:solidFill>
              </a:defRPr>
            </a:lvl5pPr>
            <a:lvl6pPr>
              <a:defRPr sz="2550" b="1">
                <a:solidFill>
                  <a:srgbClr val="173654"/>
                </a:solidFill>
              </a:defRPr>
            </a:lvl6pPr>
            <a:lvl7pPr>
              <a:defRPr sz="2550" b="1">
                <a:solidFill>
                  <a:srgbClr val="173654"/>
                </a:solidFill>
              </a:defRPr>
            </a:lvl7pPr>
            <a:lvl8pPr>
              <a:defRPr sz="2550" b="1">
                <a:solidFill>
                  <a:srgbClr val="173654"/>
                </a:solidFill>
              </a:defRPr>
            </a:lvl8pPr>
            <a:lvl9pPr>
              <a:defRPr sz="2550" b="1">
                <a:solidFill>
                  <a:srgbClr val="173654"/>
                </a:solidFill>
              </a:defRPr>
            </a:lvl9pPr>
          </a:lstStyle>
          <a:p xmlns:a="http://schemas.openxmlformats.org/drawingml/2006/main">
            <a:pPr>
              <a:defRPr sz="2550" b="1">
                <a:solidFill>
                  <a:srgbClr val="173654"/>
                </a:solidFill>
              </a:defRPr>
            </a:pPr>
            <a:r>
              <a:rPr sz="2550" b="1">
                <a:solidFill>
                  <a:srgbClr val="173654"/>
                </a:solidFill>
              </a:rPr>
              <a:t>Main model: Pressure stays</a:t>
            </a:r>
          </a:p>
        </p:txBody>
      </p:sp>
      <p:sp>
        <p:nvSpPr>
          <p:cNvPr id="6" name="">
            <a:extLst xmlns:a="http://schemas.openxmlformats.org/drawingml/2006/main">
              <a:ext uri="{FF2B5EF4-FFF2-40B4-BE49-F238E27FC236}">
                <a16:creationId xmlns:a16="http://schemas.microsoft.com/office/drawing/2014/main" id="{E54050AF-A435-4503-8C16-ACBA4BB2178B}"/>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Later-period MAE contrast: adjusted p = 0.092. No-pressure remains a comparison model. Exploratory evidence.</a:t>
            </a:r>
          </a:p>
        </p:txBody>
      </p:sp>
      <p:sp>
        <p:nvSpPr>
          <p:cNvPr id="7" name="">
            <a:extLst xmlns:a="http://schemas.openxmlformats.org/drawingml/2006/main">
              <a:ext uri="{FF2B5EF4-FFF2-40B4-BE49-F238E27FC236}">
                <a16:creationId xmlns:a16="http://schemas.microsoft.com/office/drawing/2014/main" id="{D819C6B1-1F66-4DC0-8879-14A7DB73F54F}"/>
              </a:ext>
            </a:extLst>
          </p:cNvPr>
          <p:cNvSpPr>
            <a:spLocks xmlns:a="http://schemas.openxmlformats.org/drawingml/2006/main" noGrp="1"/>
          </p:cNvSpPr>
          <p:nvPr/>
        </p:nvSpPr>
        <p:spPr>
          <a:xfrm xmlns:a="http://schemas.openxmlformats.org/drawingml/2006/main">
            <a:off x="571500" y="49053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a:solidFill>
                  <a:srgbClr val="53677D"/>
                </a:solidFill>
              </a:defRPr>
            </a:defPPr>
            <a:lvl1pPr>
              <a:defRPr sz="1725">
                <a:solidFill>
                  <a:srgbClr val="53677D"/>
                </a:solidFill>
              </a:defRPr>
            </a:lvl1pPr>
            <a:lvl2pPr>
              <a:defRPr sz="1725">
                <a:solidFill>
                  <a:srgbClr val="53677D"/>
                </a:solidFill>
              </a:defRPr>
            </a:lvl2pPr>
            <a:lvl3pPr>
              <a:defRPr sz="1725">
                <a:solidFill>
                  <a:srgbClr val="53677D"/>
                </a:solidFill>
              </a:defRPr>
            </a:lvl3pPr>
            <a:lvl4pPr>
              <a:defRPr sz="1725">
                <a:solidFill>
                  <a:srgbClr val="53677D"/>
                </a:solidFill>
              </a:defRPr>
            </a:lvl4pPr>
            <a:lvl5pPr>
              <a:defRPr sz="1725">
                <a:solidFill>
                  <a:srgbClr val="53677D"/>
                </a:solidFill>
              </a:defRPr>
            </a:lvl5pPr>
            <a:lvl6pPr>
              <a:defRPr sz="1725">
                <a:solidFill>
                  <a:srgbClr val="53677D"/>
                </a:solidFill>
              </a:defRPr>
            </a:lvl6pPr>
            <a:lvl7pPr>
              <a:defRPr sz="1725">
                <a:solidFill>
                  <a:srgbClr val="53677D"/>
                </a:solidFill>
              </a:defRPr>
            </a:lvl7pPr>
            <a:lvl8pPr>
              <a:defRPr sz="1725">
                <a:solidFill>
                  <a:srgbClr val="53677D"/>
                </a:solidFill>
              </a:defRPr>
            </a:lvl8pPr>
            <a:lvl9pPr>
              <a:defRPr sz="1725">
                <a:solidFill>
                  <a:srgbClr val="53677D"/>
                </a:solidFill>
              </a:defRPr>
            </a:lvl9pPr>
          </a:lstStyle>
          <a:p xmlns:a="http://schemas.openxmlformats.org/drawingml/2006/main">
            <a:pPr>
              <a:defRPr sz="1725">
                <a:solidFill>
                  <a:srgbClr val="53677D"/>
                </a:solidFill>
              </a:defRPr>
            </a:pPr>
            <a:r>
              <a:rPr sz="1725">
                <a:solidFill>
                  <a:srgbClr val="53677D"/>
                </a:solidFill>
              </a:rPr>
              <a:t>Later validation: higher MAE, slightly lower RMSE with Pressure</a:t>
            </a:r>
          </a:p>
        </p:txBody>
      </p:sp>
    </p:spTree>
    <p:extLst>
      <p:ext uri="{BB962C8B-B14F-4D97-AF65-F5344CB8AC3E}">
        <p14:creationId xmlns:p14="http://schemas.microsoft.com/office/powerpoint/2010/main" val="816396210"/>
      </p:ext>
    </p:extLst>
  </p:cSld>
</p:sld>
</file>

<file path=ppt/slides/slide7.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7889E0-ED35-4D16-851D-14EA4F50CC4C}"/>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Decisions for the next experiments</a:t>
            </a:r>
          </a:p>
        </p:txBody>
      </p:sp>
      <p:sp>
        <p:nvSpPr>
          <p:cNvPr id="2" name="">
            <a:extLst xmlns:a="http://schemas.openxmlformats.org/drawingml/2006/main">
              <a:ext uri="{FF2B5EF4-FFF2-40B4-BE49-F238E27FC236}">
                <a16:creationId xmlns:a16="http://schemas.microsoft.com/office/drawing/2014/main" id="{F2CA992E-EB97-4262-BD67-9E53B1B62B28}"/>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07</a:t>
            </a:r>
          </a:p>
        </p:txBody>
      </p:sp>
      <p:sp>
        <p:nvSpPr>
          <p:cNvPr id="3" name="">
            <a:extLst xmlns:a="http://schemas.openxmlformats.org/drawingml/2006/main">
              <a:ext uri="{FF2B5EF4-FFF2-40B4-BE49-F238E27FC236}">
                <a16:creationId xmlns:a16="http://schemas.microsoft.com/office/drawing/2014/main" id="{05827EF1-3FDC-4EDA-BE6B-282BDAE2E159}"/>
              </a:ext>
            </a:extLst>
          </p:cNvPr>
          <p:cNvSpPr>
            <a:spLocks xmlns:a="http://schemas.openxmlformats.org/drawingml/2006/main" noGrp="1"/>
          </p:cNvSpPr>
          <p:nvPr/>
        </p:nvSpPr>
        <p:spPr>
          <a:xfrm xmlns:a="http://schemas.openxmlformats.org/drawingml/2006/main">
            <a:off x="571500" y="15716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2563EB"/>
                </a:solidFill>
              </a:defRPr>
            </a:defPPr>
            <a:lvl1pPr>
              <a:defRPr sz="3150" b="1">
                <a:solidFill>
                  <a:srgbClr val="2563EB"/>
                </a:solidFill>
              </a:defRPr>
            </a:lvl1pPr>
            <a:lvl2pPr>
              <a:defRPr sz="3150" b="1">
                <a:solidFill>
                  <a:srgbClr val="2563EB"/>
                </a:solidFill>
              </a:defRPr>
            </a:lvl2pPr>
            <a:lvl3pPr>
              <a:defRPr sz="3150" b="1">
                <a:solidFill>
                  <a:srgbClr val="2563EB"/>
                </a:solidFill>
              </a:defRPr>
            </a:lvl3pPr>
            <a:lvl4pPr>
              <a:defRPr sz="3150" b="1">
                <a:solidFill>
                  <a:srgbClr val="2563EB"/>
                </a:solidFill>
              </a:defRPr>
            </a:lvl4pPr>
            <a:lvl5pPr>
              <a:defRPr sz="3150" b="1">
                <a:solidFill>
                  <a:srgbClr val="2563EB"/>
                </a:solidFill>
              </a:defRPr>
            </a:lvl5pPr>
            <a:lvl6pPr>
              <a:defRPr sz="3150" b="1">
                <a:solidFill>
                  <a:srgbClr val="2563EB"/>
                </a:solidFill>
              </a:defRPr>
            </a:lvl6pPr>
            <a:lvl7pPr>
              <a:defRPr sz="3150" b="1">
                <a:solidFill>
                  <a:srgbClr val="2563EB"/>
                </a:solidFill>
              </a:defRPr>
            </a:lvl7pPr>
            <a:lvl8pPr>
              <a:defRPr sz="3150" b="1">
                <a:solidFill>
                  <a:srgbClr val="2563EB"/>
                </a:solidFill>
              </a:defRPr>
            </a:lvl8pPr>
            <a:lvl9pPr>
              <a:defRPr sz="3150" b="1">
                <a:solidFill>
                  <a:srgbClr val="2563EB"/>
                </a:solidFill>
              </a:defRPr>
            </a:lvl9pPr>
          </a:lstStyle>
          <a:p xmlns:a="http://schemas.openxmlformats.org/drawingml/2006/main">
            <a:pPr>
              <a:defRPr sz="3150" b="1">
                <a:solidFill>
                  <a:srgbClr val="2563EB"/>
                </a:solidFill>
              </a:defRPr>
            </a:pPr>
            <a:r>
              <a:rPr sz="3150" b="1">
                <a:solidFill>
                  <a:srgbClr val="2563EB"/>
                </a:solidFill>
              </a:rPr>
              <a:t>1</a:t>
            </a:r>
          </a:p>
        </p:txBody>
      </p:sp>
      <p:sp>
        <p:nvSpPr>
          <p:cNvPr id="4" name="">
            <a:extLst xmlns:a="http://schemas.openxmlformats.org/drawingml/2006/main">
              <a:ext uri="{FF2B5EF4-FFF2-40B4-BE49-F238E27FC236}">
                <a16:creationId xmlns:a16="http://schemas.microsoft.com/office/drawing/2014/main" id="{00C3A521-461A-460D-BD94-E343C3E6B800}"/>
              </a:ext>
            </a:extLst>
          </p:cNvPr>
          <p:cNvSpPr>
            <a:spLocks xmlns:a="http://schemas.openxmlformats.org/drawingml/2006/main" noGrp="1"/>
          </p:cNvSpPr>
          <p:nvPr/>
        </p:nvSpPr>
        <p:spPr>
          <a:xfrm xmlns:a="http://schemas.openxmlformats.org/drawingml/2006/main">
            <a:off x="1428750" y="1571625"/>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654"/>
                </a:solidFill>
              </a:defRPr>
            </a:defPPr>
            <a:lvl1pPr>
              <a:defRPr sz="2400" b="1">
                <a:solidFill>
                  <a:srgbClr val="173654"/>
                </a:solidFill>
              </a:defRPr>
            </a:lvl1pPr>
            <a:lvl2pPr>
              <a:defRPr sz="2400" b="1">
                <a:solidFill>
                  <a:srgbClr val="173654"/>
                </a:solidFill>
              </a:defRPr>
            </a:lvl2pPr>
            <a:lvl3pPr>
              <a:defRPr sz="2400" b="1">
                <a:solidFill>
                  <a:srgbClr val="173654"/>
                </a:solidFill>
              </a:defRPr>
            </a:lvl3pPr>
            <a:lvl4pPr>
              <a:defRPr sz="2400" b="1">
                <a:solidFill>
                  <a:srgbClr val="173654"/>
                </a:solidFill>
              </a:defRPr>
            </a:lvl4pPr>
            <a:lvl5pPr>
              <a:defRPr sz="2400" b="1">
                <a:solidFill>
                  <a:srgbClr val="173654"/>
                </a:solidFill>
              </a:defRPr>
            </a:lvl5pPr>
            <a:lvl6pPr>
              <a:defRPr sz="2400" b="1">
                <a:solidFill>
                  <a:srgbClr val="173654"/>
                </a:solidFill>
              </a:defRPr>
            </a:lvl6pPr>
            <a:lvl7pPr>
              <a:defRPr sz="2400" b="1">
                <a:solidFill>
                  <a:srgbClr val="173654"/>
                </a:solidFill>
              </a:defRPr>
            </a:lvl7pPr>
            <a:lvl8pPr>
              <a:defRPr sz="2400" b="1">
                <a:solidFill>
                  <a:srgbClr val="173654"/>
                </a:solidFill>
              </a:defRPr>
            </a:lvl8pPr>
            <a:lvl9pPr>
              <a:defRPr sz="2400" b="1">
                <a:solidFill>
                  <a:srgbClr val="173654"/>
                </a:solidFill>
              </a:defRPr>
            </a:lvl9pPr>
          </a:lstStyle>
          <a:p xmlns:a="http://schemas.openxmlformats.org/drawingml/2006/main">
            <a:pPr>
              <a:defRPr sz="2400" b="1">
                <a:solidFill>
                  <a:srgbClr val="173654"/>
                </a:solidFill>
              </a:defRPr>
            </a:pPr>
            <a:r>
              <a:rPr sz="2400" b="1">
                <a:solidFill>
                  <a:srgbClr val="173654"/>
                </a:solidFill>
              </a:rPr>
              <a:t>Keep Pressure in the main model</a:t>
            </a:r>
          </a:p>
        </p:txBody>
      </p:sp>
      <p:sp>
        <p:nvSpPr>
          <p:cNvPr id="5" name="">
            <a:extLst xmlns:a="http://schemas.openxmlformats.org/drawingml/2006/main">
              <a:ext uri="{FF2B5EF4-FFF2-40B4-BE49-F238E27FC236}">
                <a16:creationId xmlns:a16="http://schemas.microsoft.com/office/drawing/2014/main" id="{07900B99-C6CD-4293-82B7-541D1E5F5DF6}"/>
              </a:ext>
            </a:extLst>
          </p:cNvPr>
          <p:cNvSpPr>
            <a:spLocks xmlns:a="http://schemas.openxmlformats.org/drawingml/2006/main" noGrp="1"/>
          </p:cNvSpPr>
          <p:nvPr/>
        </p:nvSpPr>
        <p:spPr>
          <a:xfrm xmlns:a="http://schemas.openxmlformats.org/drawingml/2006/main">
            <a:off x="1428750" y="214312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7D"/>
                </a:solidFill>
              </a:defRPr>
            </a:defPPr>
            <a:lvl1pPr>
              <a:defRPr sz="1950" b="0">
                <a:solidFill>
                  <a:srgbClr val="53677D"/>
                </a:solidFill>
              </a:defRPr>
            </a:lvl1pPr>
            <a:lvl2pPr>
              <a:defRPr sz="1950" b="0">
                <a:solidFill>
                  <a:srgbClr val="53677D"/>
                </a:solidFill>
              </a:defRPr>
            </a:lvl2pPr>
            <a:lvl3pPr>
              <a:defRPr sz="1950" b="0">
                <a:solidFill>
                  <a:srgbClr val="53677D"/>
                </a:solidFill>
              </a:defRPr>
            </a:lvl3pPr>
            <a:lvl4pPr>
              <a:defRPr sz="1950" b="0">
                <a:solidFill>
                  <a:srgbClr val="53677D"/>
                </a:solidFill>
              </a:defRPr>
            </a:lvl4pPr>
            <a:lvl5pPr>
              <a:defRPr sz="1950" b="0">
                <a:solidFill>
                  <a:srgbClr val="53677D"/>
                </a:solidFill>
              </a:defRPr>
            </a:lvl5pPr>
            <a:lvl6pPr>
              <a:defRPr sz="1950" b="0">
                <a:solidFill>
                  <a:srgbClr val="53677D"/>
                </a:solidFill>
              </a:defRPr>
            </a:lvl6pPr>
            <a:lvl7pPr>
              <a:defRPr sz="1950" b="0">
                <a:solidFill>
                  <a:srgbClr val="53677D"/>
                </a:solidFill>
              </a:defRPr>
            </a:lvl7pPr>
            <a:lvl8pPr>
              <a:defRPr sz="1950" b="0">
                <a:solidFill>
                  <a:srgbClr val="53677D"/>
                </a:solidFill>
              </a:defRPr>
            </a:lvl8pPr>
            <a:lvl9pPr>
              <a:defRPr sz="1950" b="0">
                <a:solidFill>
                  <a:srgbClr val="53677D"/>
                </a:solidFill>
              </a:defRPr>
            </a:lvl9pPr>
          </a:lstStyle>
          <a:p xmlns:a="http://schemas.openxmlformats.org/drawingml/2006/main">
            <a:pPr>
              <a:defRPr sz="1950" b="0">
                <a:solidFill>
                  <a:srgbClr val="53677D"/>
                </a:solidFill>
              </a:defRPr>
            </a:pPr>
            <a:r>
              <a:rPr sz="1950" b="0">
                <a:solidFill>
                  <a:srgbClr val="53677D"/>
                </a:solidFill>
              </a:rPr>
              <a:t>Rerun selection for optional features</a:t>
            </a:r>
          </a:p>
        </p:txBody>
      </p:sp>
      <p:sp>
        <p:nvSpPr>
          <p:cNvPr id="6" name="">
            <a:extLst xmlns:a="http://schemas.openxmlformats.org/drawingml/2006/main">
              <a:ext uri="{FF2B5EF4-FFF2-40B4-BE49-F238E27FC236}">
                <a16:creationId xmlns:a16="http://schemas.microsoft.com/office/drawing/2014/main" id="{CF5716FE-041B-4C46-9BB7-853FEA8656BA}"/>
              </a:ext>
            </a:extLst>
          </p:cNvPr>
          <p:cNvSpPr>
            <a:spLocks xmlns:a="http://schemas.openxmlformats.org/drawingml/2006/main" noGrp="1"/>
          </p:cNvSpPr>
          <p:nvPr/>
        </p:nvSpPr>
        <p:spPr>
          <a:xfrm xmlns:a="http://schemas.openxmlformats.org/drawingml/2006/main">
            <a:off x="571500" y="31432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2563EB"/>
                </a:solidFill>
              </a:defRPr>
            </a:defPPr>
            <a:lvl1pPr>
              <a:defRPr sz="3150" b="1">
                <a:solidFill>
                  <a:srgbClr val="2563EB"/>
                </a:solidFill>
              </a:defRPr>
            </a:lvl1pPr>
            <a:lvl2pPr>
              <a:defRPr sz="3150" b="1">
                <a:solidFill>
                  <a:srgbClr val="2563EB"/>
                </a:solidFill>
              </a:defRPr>
            </a:lvl2pPr>
            <a:lvl3pPr>
              <a:defRPr sz="3150" b="1">
                <a:solidFill>
                  <a:srgbClr val="2563EB"/>
                </a:solidFill>
              </a:defRPr>
            </a:lvl3pPr>
            <a:lvl4pPr>
              <a:defRPr sz="3150" b="1">
                <a:solidFill>
                  <a:srgbClr val="2563EB"/>
                </a:solidFill>
              </a:defRPr>
            </a:lvl4pPr>
            <a:lvl5pPr>
              <a:defRPr sz="3150" b="1">
                <a:solidFill>
                  <a:srgbClr val="2563EB"/>
                </a:solidFill>
              </a:defRPr>
            </a:lvl5pPr>
            <a:lvl6pPr>
              <a:defRPr sz="3150" b="1">
                <a:solidFill>
                  <a:srgbClr val="2563EB"/>
                </a:solidFill>
              </a:defRPr>
            </a:lvl6pPr>
            <a:lvl7pPr>
              <a:defRPr sz="3150" b="1">
                <a:solidFill>
                  <a:srgbClr val="2563EB"/>
                </a:solidFill>
              </a:defRPr>
            </a:lvl7pPr>
            <a:lvl8pPr>
              <a:defRPr sz="3150" b="1">
                <a:solidFill>
                  <a:srgbClr val="2563EB"/>
                </a:solidFill>
              </a:defRPr>
            </a:lvl8pPr>
            <a:lvl9pPr>
              <a:defRPr sz="3150" b="1">
                <a:solidFill>
                  <a:srgbClr val="2563EB"/>
                </a:solidFill>
              </a:defRPr>
            </a:lvl9pPr>
          </a:lstStyle>
          <a:p xmlns:a="http://schemas.openxmlformats.org/drawingml/2006/main">
            <a:pPr>
              <a:defRPr sz="3150" b="1">
                <a:solidFill>
                  <a:srgbClr val="2563EB"/>
                </a:solidFill>
              </a:defRPr>
            </a:pPr>
            <a:r>
              <a:rPr sz="3150" b="1">
                <a:solidFill>
                  <a:srgbClr val="2563EB"/>
                </a:solidFill>
              </a:rPr>
              <a:t>2</a:t>
            </a:r>
          </a:p>
        </p:txBody>
      </p:sp>
      <p:sp>
        <p:nvSpPr>
          <p:cNvPr id="7" name="">
            <a:extLst xmlns:a="http://schemas.openxmlformats.org/drawingml/2006/main">
              <a:ext uri="{FF2B5EF4-FFF2-40B4-BE49-F238E27FC236}">
                <a16:creationId xmlns:a16="http://schemas.microsoft.com/office/drawing/2014/main" id="{23BF399C-58D3-4F2C-8AD1-7FD1C4842820}"/>
              </a:ext>
            </a:extLst>
          </p:cNvPr>
          <p:cNvSpPr>
            <a:spLocks xmlns:a="http://schemas.openxmlformats.org/drawingml/2006/main" noGrp="1"/>
          </p:cNvSpPr>
          <p:nvPr/>
        </p:nvSpPr>
        <p:spPr>
          <a:xfrm xmlns:a="http://schemas.openxmlformats.org/drawingml/2006/main">
            <a:off x="1428750" y="3143250"/>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654"/>
                </a:solidFill>
              </a:defRPr>
            </a:defPPr>
            <a:lvl1pPr>
              <a:defRPr sz="2400" b="1">
                <a:solidFill>
                  <a:srgbClr val="173654"/>
                </a:solidFill>
              </a:defRPr>
            </a:lvl1pPr>
            <a:lvl2pPr>
              <a:defRPr sz="2400" b="1">
                <a:solidFill>
                  <a:srgbClr val="173654"/>
                </a:solidFill>
              </a:defRPr>
            </a:lvl2pPr>
            <a:lvl3pPr>
              <a:defRPr sz="2400" b="1">
                <a:solidFill>
                  <a:srgbClr val="173654"/>
                </a:solidFill>
              </a:defRPr>
            </a:lvl3pPr>
            <a:lvl4pPr>
              <a:defRPr sz="2400" b="1">
                <a:solidFill>
                  <a:srgbClr val="173654"/>
                </a:solidFill>
              </a:defRPr>
            </a:lvl4pPr>
            <a:lvl5pPr>
              <a:defRPr sz="2400" b="1">
                <a:solidFill>
                  <a:srgbClr val="173654"/>
                </a:solidFill>
              </a:defRPr>
            </a:lvl5pPr>
            <a:lvl6pPr>
              <a:defRPr sz="2400" b="1">
                <a:solidFill>
                  <a:srgbClr val="173654"/>
                </a:solidFill>
              </a:defRPr>
            </a:lvl6pPr>
            <a:lvl7pPr>
              <a:defRPr sz="2400" b="1">
                <a:solidFill>
                  <a:srgbClr val="173654"/>
                </a:solidFill>
              </a:defRPr>
            </a:lvl7pPr>
            <a:lvl8pPr>
              <a:defRPr sz="2400" b="1">
                <a:solidFill>
                  <a:srgbClr val="173654"/>
                </a:solidFill>
              </a:defRPr>
            </a:lvl8pPr>
            <a:lvl9pPr>
              <a:defRPr sz="2400" b="1">
                <a:solidFill>
                  <a:srgbClr val="173654"/>
                </a:solidFill>
              </a:defRPr>
            </a:lvl9pPr>
          </a:lstStyle>
          <a:p xmlns:a="http://schemas.openxmlformats.org/drawingml/2006/main">
            <a:pPr>
              <a:defRPr sz="2400" b="1">
                <a:solidFill>
                  <a:srgbClr val="173654"/>
                </a:solidFill>
              </a:defRPr>
            </a:pPr>
            <a:r>
              <a:rPr sz="2400" b="1">
                <a:solidFill>
                  <a:srgbClr val="173654"/>
                </a:solidFill>
              </a:rPr>
              <a:t>Compare XGBoost and Random Forest</a:t>
            </a:r>
          </a:p>
        </p:txBody>
      </p:sp>
      <p:sp>
        <p:nvSpPr>
          <p:cNvPr id="8" name="">
            <a:extLst xmlns:a="http://schemas.openxmlformats.org/drawingml/2006/main">
              <a:ext uri="{FF2B5EF4-FFF2-40B4-BE49-F238E27FC236}">
                <a16:creationId xmlns:a16="http://schemas.microsoft.com/office/drawing/2014/main" id="{98829043-91B1-4E77-B48C-95CAF1627EFC}"/>
              </a:ext>
            </a:extLst>
          </p:cNvPr>
          <p:cNvSpPr>
            <a:spLocks xmlns:a="http://schemas.openxmlformats.org/drawingml/2006/main" noGrp="1"/>
          </p:cNvSpPr>
          <p:nvPr/>
        </p:nvSpPr>
        <p:spPr>
          <a:xfrm xmlns:a="http://schemas.openxmlformats.org/drawingml/2006/main">
            <a:off x="1428750" y="3714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7D"/>
                </a:solidFill>
              </a:defRPr>
            </a:defPPr>
            <a:lvl1pPr>
              <a:defRPr sz="1950" b="0">
                <a:solidFill>
                  <a:srgbClr val="53677D"/>
                </a:solidFill>
              </a:defRPr>
            </a:lvl1pPr>
            <a:lvl2pPr>
              <a:defRPr sz="1950" b="0">
                <a:solidFill>
                  <a:srgbClr val="53677D"/>
                </a:solidFill>
              </a:defRPr>
            </a:lvl2pPr>
            <a:lvl3pPr>
              <a:defRPr sz="1950" b="0">
                <a:solidFill>
                  <a:srgbClr val="53677D"/>
                </a:solidFill>
              </a:defRPr>
            </a:lvl3pPr>
            <a:lvl4pPr>
              <a:defRPr sz="1950" b="0">
                <a:solidFill>
                  <a:srgbClr val="53677D"/>
                </a:solidFill>
              </a:defRPr>
            </a:lvl4pPr>
            <a:lvl5pPr>
              <a:defRPr sz="1950" b="0">
                <a:solidFill>
                  <a:srgbClr val="53677D"/>
                </a:solidFill>
              </a:defRPr>
            </a:lvl5pPr>
            <a:lvl6pPr>
              <a:defRPr sz="1950" b="0">
                <a:solidFill>
                  <a:srgbClr val="53677D"/>
                </a:solidFill>
              </a:defRPr>
            </a:lvl6pPr>
            <a:lvl7pPr>
              <a:defRPr sz="1950" b="0">
                <a:solidFill>
                  <a:srgbClr val="53677D"/>
                </a:solidFill>
              </a:defRPr>
            </a:lvl7pPr>
            <a:lvl8pPr>
              <a:defRPr sz="1950" b="0">
                <a:solidFill>
                  <a:srgbClr val="53677D"/>
                </a:solidFill>
              </a:defRPr>
            </a:lvl8pPr>
            <a:lvl9pPr>
              <a:defRPr sz="1950" b="0">
                <a:solidFill>
                  <a:srgbClr val="53677D"/>
                </a:solidFill>
              </a:defRPr>
            </a:lvl9pPr>
          </a:lstStyle>
          <a:p xmlns:a="http://schemas.openxmlformats.org/drawingml/2006/main">
            <a:pPr>
              <a:defRPr sz="1950" b="0">
                <a:solidFill>
                  <a:srgbClr val="53677D"/>
                </a:solidFill>
              </a:defRPr>
            </a:pPr>
            <a:r>
              <a:rPr sz="1950" b="0">
                <a:solidFill>
                  <a:srgbClr val="53677D"/>
                </a:solidFill>
              </a:rPr>
              <a:t>Use the same targets, regions and time design</a:t>
            </a:r>
          </a:p>
        </p:txBody>
      </p:sp>
      <p:sp>
        <p:nvSpPr>
          <p:cNvPr id="9" name="">
            <a:extLst xmlns:a="http://schemas.openxmlformats.org/drawingml/2006/main">
              <a:ext uri="{FF2B5EF4-FFF2-40B4-BE49-F238E27FC236}">
                <a16:creationId xmlns:a16="http://schemas.microsoft.com/office/drawing/2014/main" id="{7E0B863C-C8EE-44A9-BE0E-CEF6B27F163F}"/>
              </a:ext>
            </a:extLst>
          </p:cNvPr>
          <p:cNvSpPr>
            <a:spLocks xmlns:a="http://schemas.openxmlformats.org/drawingml/2006/main" noGrp="1"/>
          </p:cNvSpPr>
          <p:nvPr/>
        </p:nvSpPr>
        <p:spPr>
          <a:xfrm xmlns:a="http://schemas.openxmlformats.org/drawingml/2006/main">
            <a:off x="571500" y="4714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2563EB"/>
                </a:solidFill>
              </a:defRPr>
            </a:defPPr>
            <a:lvl1pPr>
              <a:defRPr sz="3150" b="1">
                <a:solidFill>
                  <a:srgbClr val="2563EB"/>
                </a:solidFill>
              </a:defRPr>
            </a:lvl1pPr>
            <a:lvl2pPr>
              <a:defRPr sz="3150" b="1">
                <a:solidFill>
                  <a:srgbClr val="2563EB"/>
                </a:solidFill>
              </a:defRPr>
            </a:lvl2pPr>
            <a:lvl3pPr>
              <a:defRPr sz="3150" b="1">
                <a:solidFill>
                  <a:srgbClr val="2563EB"/>
                </a:solidFill>
              </a:defRPr>
            </a:lvl3pPr>
            <a:lvl4pPr>
              <a:defRPr sz="3150" b="1">
                <a:solidFill>
                  <a:srgbClr val="2563EB"/>
                </a:solidFill>
              </a:defRPr>
            </a:lvl4pPr>
            <a:lvl5pPr>
              <a:defRPr sz="3150" b="1">
                <a:solidFill>
                  <a:srgbClr val="2563EB"/>
                </a:solidFill>
              </a:defRPr>
            </a:lvl5pPr>
            <a:lvl6pPr>
              <a:defRPr sz="3150" b="1">
                <a:solidFill>
                  <a:srgbClr val="2563EB"/>
                </a:solidFill>
              </a:defRPr>
            </a:lvl6pPr>
            <a:lvl7pPr>
              <a:defRPr sz="3150" b="1">
                <a:solidFill>
                  <a:srgbClr val="2563EB"/>
                </a:solidFill>
              </a:defRPr>
            </a:lvl7pPr>
            <a:lvl8pPr>
              <a:defRPr sz="3150" b="1">
                <a:solidFill>
                  <a:srgbClr val="2563EB"/>
                </a:solidFill>
              </a:defRPr>
            </a:lvl8pPr>
            <a:lvl9pPr>
              <a:defRPr sz="3150" b="1">
                <a:solidFill>
                  <a:srgbClr val="2563EB"/>
                </a:solidFill>
              </a:defRPr>
            </a:lvl9pPr>
          </a:lstStyle>
          <a:p xmlns:a="http://schemas.openxmlformats.org/drawingml/2006/main">
            <a:pPr>
              <a:defRPr sz="3150" b="1">
                <a:solidFill>
                  <a:srgbClr val="2563EB"/>
                </a:solidFill>
              </a:defRPr>
            </a:pPr>
            <a:r>
              <a:rPr sz="3150" b="1">
                <a:solidFill>
                  <a:srgbClr val="2563EB"/>
                </a:solidFill>
              </a:rPr>
              <a:t>3</a:t>
            </a:r>
          </a:p>
        </p:txBody>
      </p:sp>
      <p:sp>
        <p:nvSpPr>
          <p:cNvPr id="10" name="">
            <a:extLst xmlns:a="http://schemas.openxmlformats.org/drawingml/2006/main">
              <a:ext uri="{FF2B5EF4-FFF2-40B4-BE49-F238E27FC236}">
                <a16:creationId xmlns:a16="http://schemas.microsoft.com/office/drawing/2014/main" id="{708918DB-686D-4B61-B066-372FC1988F54}"/>
              </a:ext>
            </a:extLst>
          </p:cNvPr>
          <p:cNvSpPr>
            <a:spLocks xmlns:a="http://schemas.openxmlformats.org/drawingml/2006/main" noGrp="1"/>
          </p:cNvSpPr>
          <p:nvPr/>
        </p:nvSpPr>
        <p:spPr>
          <a:xfrm xmlns:a="http://schemas.openxmlformats.org/drawingml/2006/main">
            <a:off x="1428750" y="4714875"/>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654"/>
                </a:solidFill>
              </a:defRPr>
            </a:defPPr>
            <a:lvl1pPr>
              <a:defRPr sz="2400" b="1">
                <a:solidFill>
                  <a:srgbClr val="173654"/>
                </a:solidFill>
              </a:defRPr>
            </a:lvl1pPr>
            <a:lvl2pPr>
              <a:defRPr sz="2400" b="1">
                <a:solidFill>
                  <a:srgbClr val="173654"/>
                </a:solidFill>
              </a:defRPr>
            </a:lvl2pPr>
            <a:lvl3pPr>
              <a:defRPr sz="2400" b="1">
                <a:solidFill>
                  <a:srgbClr val="173654"/>
                </a:solidFill>
              </a:defRPr>
            </a:lvl3pPr>
            <a:lvl4pPr>
              <a:defRPr sz="2400" b="1">
                <a:solidFill>
                  <a:srgbClr val="173654"/>
                </a:solidFill>
              </a:defRPr>
            </a:lvl4pPr>
            <a:lvl5pPr>
              <a:defRPr sz="2400" b="1">
                <a:solidFill>
                  <a:srgbClr val="173654"/>
                </a:solidFill>
              </a:defRPr>
            </a:lvl5pPr>
            <a:lvl6pPr>
              <a:defRPr sz="2400" b="1">
                <a:solidFill>
                  <a:srgbClr val="173654"/>
                </a:solidFill>
              </a:defRPr>
            </a:lvl6pPr>
            <a:lvl7pPr>
              <a:defRPr sz="2400" b="1">
                <a:solidFill>
                  <a:srgbClr val="173654"/>
                </a:solidFill>
              </a:defRPr>
            </a:lvl7pPr>
            <a:lvl8pPr>
              <a:defRPr sz="2400" b="1">
                <a:solidFill>
                  <a:srgbClr val="173654"/>
                </a:solidFill>
              </a:defRPr>
            </a:lvl8pPr>
            <a:lvl9pPr>
              <a:defRPr sz="2400" b="1">
                <a:solidFill>
                  <a:srgbClr val="173654"/>
                </a:solidFill>
              </a:defRPr>
            </a:lvl9pPr>
          </a:lstStyle>
          <a:p xmlns:a="http://schemas.openxmlformats.org/drawingml/2006/main">
            <a:pPr>
              <a:defRPr sz="2400" b="1">
                <a:solidFill>
                  <a:srgbClr val="173654"/>
                </a:solidFill>
              </a:defRPr>
            </a:pPr>
            <a:r>
              <a:rPr sz="2400" b="1">
                <a:solidFill>
                  <a:srgbClr val="173654"/>
                </a:solidFill>
              </a:rPr>
              <a:t>Define trajectories and outbreak warnings</a:t>
            </a:r>
          </a:p>
        </p:txBody>
      </p:sp>
      <p:sp>
        <p:nvSpPr>
          <p:cNvPr id="11" name="">
            <a:extLst xmlns:a="http://schemas.openxmlformats.org/drawingml/2006/main">
              <a:ext uri="{FF2B5EF4-FFF2-40B4-BE49-F238E27FC236}">
                <a16:creationId xmlns:a16="http://schemas.microsoft.com/office/drawing/2014/main" id="{470F066A-5663-4766-99D6-877997E77FE5}"/>
              </a:ext>
            </a:extLst>
          </p:cNvPr>
          <p:cNvSpPr>
            <a:spLocks xmlns:a="http://schemas.openxmlformats.org/drawingml/2006/main" noGrp="1"/>
          </p:cNvSpPr>
          <p:nvPr/>
        </p:nvSpPr>
        <p:spPr>
          <a:xfrm xmlns:a="http://schemas.openxmlformats.org/drawingml/2006/main">
            <a:off x="1428750" y="52863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7D"/>
                </a:solidFill>
              </a:defRPr>
            </a:defPPr>
            <a:lvl1pPr>
              <a:defRPr sz="1950" b="0">
                <a:solidFill>
                  <a:srgbClr val="53677D"/>
                </a:solidFill>
              </a:defRPr>
            </a:lvl1pPr>
            <a:lvl2pPr>
              <a:defRPr sz="1950" b="0">
                <a:solidFill>
                  <a:srgbClr val="53677D"/>
                </a:solidFill>
              </a:defRPr>
            </a:lvl2pPr>
            <a:lvl3pPr>
              <a:defRPr sz="1950" b="0">
                <a:solidFill>
                  <a:srgbClr val="53677D"/>
                </a:solidFill>
              </a:defRPr>
            </a:lvl3pPr>
            <a:lvl4pPr>
              <a:defRPr sz="1950" b="0">
                <a:solidFill>
                  <a:srgbClr val="53677D"/>
                </a:solidFill>
              </a:defRPr>
            </a:lvl4pPr>
            <a:lvl5pPr>
              <a:defRPr sz="1950" b="0">
                <a:solidFill>
                  <a:srgbClr val="53677D"/>
                </a:solidFill>
              </a:defRPr>
            </a:lvl5pPr>
            <a:lvl6pPr>
              <a:defRPr sz="1950" b="0">
                <a:solidFill>
                  <a:srgbClr val="53677D"/>
                </a:solidFill>
              </a:defRPr>
            </a:lvl6pPr>
            <a:lvl7pPr>
              <a:defRPr sz="1950" b="0">
                <a:solidFill>
                  <a:srgbClr val="53677D"/>
                </a:solidFill>
              </a:defRPr>
            </a:lvl7pPr>
            <a:lvl8pPr>
              <a:defRPr sz="1950" b="0">
                <a:solidFill>
                  <a:srgbClr val="53677D"/>
                </a:solidFill>
              </a:defRPr>
            </a:lvl8pPr>
            <a:lvl9pPr>
              <a:defRPr sz="1950" b="0">
                <a:solidFill>
                  <a:srgbClr val="53677D"/>
                </a:solidFill>
              </a:defRPr>
            </a:lvl9pPr>
          </a:lstStyle>
          <a:p xmlns:a="http://schemas.openxmlformats.org/drawingml/2006/main">
            <a:pPr>
              <a:defRPr sz="1950" b="0">
                <a:solidFill>
                  <a:srgbClr val="53677D"/>
                </a:solidFill>
              </a:defRPr>
            </a:pPr>
            <a:r>
              <a:rPr sz="1950" b="0">
                <a:solidFill>
                  <a:srgbClr val="53677D"/>
                </a:solidFill>
              </a:rPr>
              <a:t>Then evaluate PR-AUC, lead time and spatial residuals</a:t>
            </a:r>
          </a:p>
        </p:txBody>
      </p:sp>
    </p:spTree>
    <p:extLst>
      <p:ext uri="{BB962C8B-B14F-4D97-AF65-F5344CB8AC3E}">
        <p14:creationId xmlns:p14="http://schemas.microsoft.com/office/powerpoint/2010/main" val="1790765656"/>
      </p:ext>
    </p:extLst>
  </p:cSld>
</p:sld>
</file>

<file path=ppt/slides/slide8.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3AA357-8C75-4169-A17E-C95F94A80E3A}"/>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Appendix: interpretation and limits</a:t>
            </a:r>
          </a:p>
        </p:txBody>
      </p:sp>
      <p:sp>
        <p:nvSpPr>
          <p:cNvPr id="2" name="">
            <a:extLst xmlns:a="http://schemas.openxmlformats.org/drawingml/2006/main">
              <a:ext uri="{FF2B5EF4-FFF2-40B4-BE49-F238E27FC236}">
                <a16:creationId xmlns:a16="http://schemas.microsoft.com/office/drawing/2014/main" id="{0F1A70A7-0C8C-444A-AA7F-C62062001A71}"/>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08</a:t>
            </a:r>
          </a:p>
        </p:txBody>
      </p:sp>
      <p:graphicFrame>
        <p:nvGraphicFramePr>
          <p:cNvPr id="3" name="">
            <a:extLst xmlns:a="http://schemas.openxmlformats.org/drawingml/2006/main">
              <a:ext uri="{FF2B5EF4-FFF2-40B4-BE49-F238E27FC236}">
                <a16:creationId xmlns:a16="http://schemas.microsoft.com/office/drawing/2014/main" id="{A71981D7-24CF-469C-81CA-C635B10639CA}"/>
              </a:ext>
            </a:extLst>
          </p:cNvPr>
          <p:cNvGraphicFramePr/>
          <p:nvPr/>
        </p:nvGraphicFramePr>
        <p:xfrm>
          <a:off xmlns:a="http://schemas.openxmlformats.org/drawingml/2006/main" x="571500" y="1428750"/>
          <a:ext xmlns:a="http://schemas.openxmlformats.org/drawingml/2006/main" cx="11049000" cy="3905250"/>
        </p:xfrm>
        <a:graphic xmlns:a="http://schemas.openxmlformats.org/drawingml/2006/main">
          <a:graphicData uri="http://schemas.openxmlformats.org/drawingml/2006/table">
            <a:tbl>
              <a:tblPr/>
              <a:tblGrid>
                <a:gridCol w="4017818"/>
                <a:gridCol w="7031182"/>
              </a:tblGrid>
              <a:tr h="650875">
                <a:tc>
                  <a:txBody>
                    <a:bodyPr/>
                    <a:lstStyle/>
                    <a:p>
                      <a:r>
                        <a:rPr sz="1800" b="1">
                          <a:solidFill>
                            <a:srgbClr val="FFFFFF"/>
                          </a:solidFill>
                        </a:rPr>
                        <a:t>Issue</a:t>
                      </a:r>
                    </a:p>
                  </a:txBody>
                  <a:tcPr marL="91440" marR="91440" marT="45720" marB="45720">
                    <a:lnL w="9525">
                      <a:solidFill>
                        <a:srgbClr val="D7E3EF"/>
                      </a:solidFill>
                      <a:prstDash val="solid"/>
                    </a:lnL>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c>
                  <a:txBody>
                    <a:bodyPr/>
                    <a:lstStyle/>
                    <a:p>
                      <a:r>
                        <a:rPr sz="1800" b="1">
                          <a:solidFill>
                            <a:srgbClr val="FFFFFF"/>
                          </a:solidFill>
                        </a:rPr>
                        <a:t>What we can claim</a:t>
                      </a:r>
                    </a:p>
                  </a:txBody>
                  <a:tcPr marL="91440" marR="91440" marT="45720" marB="45720">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r>
              <a:tr h="650875">
                <a:tc>
                  <a:txBody>
                    <a:bodyPr/>
                    <a:lstStyle/>
                    <a:p>
                      <a:r>
                        <a:rPr sz="1800" b="0">
                          <a:solidFill>
                            <a:srgbClr val="173654"/>
                          </a:solidFill>
                        </a:rPr>
                        <a:t>Missing onset dates</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Recorded-onset forecasts, not all infections</a:t>
                      </a:r>
                    </a:p>
                  </a:txBody>
                  <a:tcPr marL="91440" marR="91440" marT="45720" marB="45720">
                    <a:lnR w="9525">
                      <a:solidFill>
                        <a:srgbClr val="D7E3EF"/>
                      </a:solidFill>
                      <a:prstDash val="solid"/>
                    </a:lnR>
                    <a:lnB w="9525">
                      <a:solidFill>
                        <a:srgbClr val="D7E3EF"/>
                      </a:solidFill>
                      <a:prstDash val="solid"/>
                    </a:lnB>
                    <a:solidFill>
                      <a:srgbClr val="FFFFFF"/>
                    </a:solidFill>
                  </a:tcPr>
                </a:tc>
              </a:tr>
              <a:tr h="650875">
                <a:tc>
                  <a:txBody>
                    <a:bodyPr/>
                    <a:lstStyle/>
                    <a:p>
                      <a:r>
                        <a:rPr sz="1800" b="0">
                          <a:solidFill>
                            <a:srgbClr val="173654"/>
                          </a:solidFill>
                        </a:rPr>
                        <a:t>2021 regional inputs</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Static population / commuting assumptions</a:t>
                      </a:r>
                    </a:p>
                  </a:txBody>
                  <a:tcPr marL="91440" marR="91440" marT="45720" marB="45720">
                    <a:lnR w="9525">
                      <a:solidFill>
                        <a:srgbClr val="D7E3EF"/>
                      </a:solidFill>
                      <a:prstDash val="solid"/>
                    </a:lnR>
                    <a:lnB w="9525">
                      <a:solidFill>
                        <a:srgbClr val="D7E3EF"/>
                      </a:solidFill>
                      <a:prstDash val="solid"/>
                    </a:lnB>
                    <a:solidFill>
                      <a:srgbClr val="E6F0F8"/>
                    </a:solidFill>
                  </a:tcPr>
                </a:tc>
              </a:tr>
              <a:tr h="650875">
                <a:tc>
                  <a:txBody>
                    <a:bodyPr/>
                    <a:lstStyle/>
                    <a:p>
                      <a:r>
                        <a:rPr sz="1800" b="0">
                          <a:solidFill>
                            <a:srgbClr val="173654"/>
                          </a:solidFill>
                        </a:rPr>
                        <a:t>ZIP–ZCTA correspondence</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Exact identifier match, still unvalidated</a:t>
                      </a:r>
                    </a:p>
                  </a:txBody>
                  <a:tcPr marL="91440" marR="91440" marT="45720" marB="45720">
                    <a:lnR w="9525">
                      <a:solidFill>
                        <a:srgbClr val="D7E3EF"/>
                      </a:solidFill>
                      <a:prstDash val="solid"/>
                    </a:lnR>
                    <a:lnB w="9525">
                      <a:solidFill>
                        <a:srgbClr val="D7E3EF"/>
                      </a:solidFill>
                      <a:prstDash val="solid"/>
                    </a:lnB>
                    <a:solidFill>
                      <a:srgbClr val="FFFFFF"/>
                    </a:solidFill>
                  </a:tcPr>
                </a:tc>
              </a:tr>
              <a:tr h="650875">
                <a:tc>
                  <a:txBody>
                    <a:bodyPr/>
                    <a:lstStyle/>
                    <a:p>
                      <a:r>
                        <a:rPr sz="1800" b="0">
                          <a:solidFill>
                            <a:srgbClr val="173654"/>
                          </a:solidFill>
                        </a:rPr>
                        <a:t>Repeated validation use</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Exploratory comparisons</a:t>
                      </a:r>
                    </a:p>
                  </a:txBody>
                  <a:tcPr marL="91440" marR="91440" marT="45720" marB="45720">
                    <a:lnR w="9525">
                      <a:solidFill>
                        <a:srgbClr val="D7E3EF"/>
                      </a:solidFill>
                      <a:prstDash val="solid"/>
                    </a:lnR>
                    <a:lnB w="9525">
                      <a:solidFill>
                        <a:srgbClr val="D7E3EF"/>
                      </a:solidFill>
                      <a:prstDash val="solid"/>
                    </a:lnB>
                    <a:solidFill>
                      <a:srgbClr val="E6F0F8"/>
                    </a:solidFill>
                  </a:tcPr>
                </a:tc>
              </a:tr>
              <a:tr h="650875">
                <a:tc>
                  <a:txBody>
                    <a:bodyPr/>
                    <a:lstStyle/>
                    <a:p>
                      <a:r>
                        <a:rPr sz="1800" b="0">
                          <a:solidFill>
                            <a:srgbClr val="173654"/>
                          </a:solidFill>
                        </a:rPr>
                        <a:t>Spatial / outbreak metrics</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Pending weights and warning definitions</a:t>
                      </a:r>
                    </a:p>
                  </a:txBody>
                  <a:tcPr marL="91440" marR="91440" marT="45720" marB="45720">
                    <a:lnR w="9525">
                      <a:solidFill>
                        <a:srgbClr val="D7E3EF"/>
                      </a:solidFill>
                      <a:prstDash val="solid"/>
                    </a:lnR>
                    <a:lnB w="9525">
                      <a:solidFill>
                        <a:srgbClr val="D7E3E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6EEE330-9D1F-47D5-808C-DB4E6C5F770E}"/>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Current model: Dynamic Panel FE OLS. GMM instrument tests do not apply.</a:t>
            </a:r>
          </a:p>
        </p:txBody>
      </p:sp>
    </p:spTree>
    <p:extLst>
      <p:ext uri="{BB962C8B-B14F-4D97-AF65-F5344CB8AC3E}">
        <p14:creationId xmlns:p14="http://schemas.microsoft.com/office/powerpoint/2010/main" val="860540370"/>
      </p:ext>
    </p:extLst>
  </p:cSld>
</p:sld>
</file>

<file path=ppt/slides/slide9.xml><?xml version="1.0" encoding="utf-8"?>
<p:sld xmlns:p="http://schemas.openxmlformats.org/presentationml/2006/main">
  <p:cSld>
    <p:bg>
      <p:bgPr>
        <a:solidFill xmlns:a="http://schemas.openxmlformats.org/drawingml/2006/main">
          <a:srgbClr val="EFF6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38AAA6-9F67-4417-81AB-FE64E77B431D}"/>
              </a:ext>
            </a:extLst>
          </p:cNvPr>
          <p:cNvSpPr>
            <a:spLocks xmlns:a="http://schemas.openxmlformats.org/drawingml/2006/main" noGrp="1"/>
          </p:cNvSpPr>
          <p:nvPr/>
        </p:nvSpPr>
        <p:spPr>
          <a:xfrm xmlns:a="http://schemas.openxmlformats.org/drawingml/2006/main">
            <a:off x="571500" y="3810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4"/>
                </a:solidFill>
              </a:defRPr>
            </a:defPPr>
            <a:lvl1pPr>
              <a:defRPr sz="3300" b="1">
                <a:solidFill>
                  <a:srgbClr val="173654"/>
                </a:solidFill>
              </a:defRPr>
            </a:lvl1pPr>
            <a:lvl2pPr>
              <a:defRPr sz="3300" b="1">
                <a:solidFill>
                  <a:srgbClr val="173654"/>
                </a:solidFill>
              </a:defRPr>
            </a:lvl2pPr>
            <a:lvl3pPr>
              <a:defRPr sz="3300" b="1">
                <a:solidFill>
                  <a:srgbClr val="173654"/>
                </a:solidFill>
              </a:defRPr>
            </a:lvl3pPr>
            <a:lvl4pPr>
              <a:defRPr sz="3300" b="1">
                <a:solidFill>
                  <a:srgbClr val="173654"/>
                </a:solidFill>
              </a:defRPr>
            </a:lvl4pPr>
            <a:lvl5pPr>
              <a:defRPr sz="3300" b="1">
                <a:solidFill>
                  <a:srgbClr val="173654"/>
                </a:solidFill>
              </a:defRPr>
            </a:lvl5pPr>
            <a:lvl6pPr>
              <a:defRPr sz="3300" b="1">
                <a:solidFill>
                  <a:srgbClr val="173654"/>
                </a:solidFill>
              </a:defRPr>
            </a:lvl6pPr>
            <a:lvl7pPr>
              <a:defRPr sz="3300" b="1">
                <a:solidFill>
                  <a:srgbClr val="173654"/>
                </a:solidFill>
              </a:defRPr>
            </a:lvl7pPr>
            <a:lvl8pPr>
              <a:defRPr sz="3300" b="1">
                <a:solidFill>
                  <a:srgbClr val="173654"/>
                </a:solidFill>
              </a:defRPr>
            </a:lvl8pPr>
            <a:lvl9pPr>
              <a:defRPr sz="3300" b="1">
                <a:solidFill>
                  <a:srgbClr val="173654"/>
                </a:solidFill>
              </a:defRPr>
            </a:lvl9pPr>
          </a:lstStyle>
          <a:p xmlns:a="http://schemas.openxmlformats.org/drawingml/2006/main">
            <a:pPr>
              <a:defRPr sz="3300" b="1">
                <a:solidFill>
                  <a:srgbClr val="173654"/>
                </a:solidFill>
              </a:defRPr>
            </a:pPr>
            <a:r>
              <a:rPr sz="3300" b="1">
                <a:solidFill>
                  <a:srgbClr val="173654"/>
                </a:solidFill>
              </a:rPr>
              <a:t>Appendix: individual time sheets</a:t>
            </a:r>
          </a:p>
        </p:txBody>
      </p:sp>
      <p:sp>
        <p:nvSpPr>
          <p:cNvPr id="2" name="">
            <a:extLst xmlns:a="http://schemas.openxmlformats.org/drawingml/2006/main">
              <a:ext uri="{FF2B5EF4-FFF2-40B4-BE49-F238E27FC236}">
                <a16:creationId xmlns:a16="http://schemas.microsoft.com/office/drawing/2014/main" id="{CDE47417-D9A4-4658-A0EF-1F1752952A76}"/>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7D"/>
                </a:solidFill>
              </a:defRPr>
            </a:defPPr>
            <a:lvl1pPr>
              <a:defRPr sz="1275" b="0">
                <a:solidFill>
                  <a:srgbClr val="53677D"/>
                </a:solidFill>
              </a:defRPr>
            </a:lvl1pPr>
            <a:lvl2pPr>
              <a:defRPr sz="1275" b="0">
                <a:solidFill>
                  <a:srgbClr val="53677D"/>
                </a:solidFill>
              </a:defRPr>
            </a:lvl2pPr>
            <a:lvl3pPr>
              <a:defRPr sz="1275" b="0">
                <a:solidFill>
                  <a:srgbClr val="53677D"/>
                </a:solidFill>
              </a:defRPr>
            </a:lvl3pPr>
            <a:lvl4pPr>
              <a:defRPr sz="1275" b="0">
                <a:solidFill>
                  <a:srgbClr val="53677D"/>
                </a:solidFill>
              </a:defRPr>
            </a:lvl4pPr>
            <a:lvl5pPr>
              <a:defRPr sz="1275" b="0">
                <a:solidFill>
                  <a:srgbClr val="53677D"/>
                </a:solidFill>
              </a:defRPr>
            </a:lvl5pPr>
            <a:lvl6pPr>
              <a:defRPr sz="1275" b="0">
                <a:solidFill>
                  <a:srgbClr val="53677D"/>
                </a:solidFill>
              </a:defRPr>
            </a:lvl6pPr>
            <a:lvl7pPr>
              <a:defRPr sz="1275" b="0">
                <a:solidFill>
                  <a:srgbClr val="53677D"/>
                </a:solidFill>
              </a:defRPr>
            </a:lvl7pPr>
            <a:lvl8pPr>
              <a:defRPr sz="1275" b="0">
                <a:solidFill>
                  <a:srgbClr val="53677D"/>
                </a:solidFill>
              </a:defRPr>
            </a:lvl8pPr>
            <a:lvl9pPr>
              <a:defRPr sz="1275" b="0">
                <a:solidFill>
                  <a:srgbClr val="53677D"/>
                </a:solidFill>
              </a:defRPr>
            </a:lvl9pPr>
          </a:lstStyle>
          <a:p xmlns:a="http://schemas.openxmlformats.org/drawingml/2006/main">
            <a:pPr>
              <a:defRPr sz="1275" b="0">
                <a:solidFill>
                  <a:srgbClr val="53677D"/>
                </a:solidFill>
              </a:defRPr>
            </a:pPr>
            <a:r>
              <a:rPr sz="1275" b="0">
                <a:solidFill>
                  <a:srgbClr val="53677D"/>
                </a:solidFill>
              </a:rPr>
              <a:t>09</a:t>
            </a:r>
          </a:p>
        </p:txBody>
      </p:sp>
      <p:sp>
        <p:nvSpPr>
          <p:cNvPr id="3" name="">
            <a:extLst xmlns:a="http://schemas.openxmlformats.org/drawingml/2006/main">
              <a:ext uri="{FF2B5EF4-FFF2-40B4-BE49-F238E27FC236}">
                <a16:creationId xmlns:a16="http://schemas.microsoft.com/office/drawing/2014/main" id="{8906138C-7977-42A4-BDA4-AEE8CD18833A}"/>
              </a:ext>
            </a:extLst>
          </p:cNvPr>
          <p:cNvSpPr>
            <a:spLocks xmlns:a="http://schemas.openxmlformats.org/drawingml/2006/main" noGrp="1"/>
          </p:cNvSpPr>
          <p:nvPr/>
        </p:nvSpPr>
        <p:spPr>
          <a:xfrm xmlns:a="http://schemas.openxmlformats.org/drawingml/2006/main">
            <a:off x="571500" y="13335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65A19"/>
                </a:solidFill>
              </a:defRPr>
            </a:defPPr>
            <a:lvl1pPr>
              <a:defRPr sz="2025" b="1">
                <a:solidFill>
                  <a:srgbClr val="C65A19"/>
                </a:solidFill>
              </a:defRPr>
            </a:lvl1pPr>
            <a:lvl2pPr>
              <a:defRPr sz="2025" b="1">
                <a:solidFill>
                  <a:srgbClr val="C65A19"/>
                </a:solidFill>
              </a:defRPr>
            </a:lvl2pPr>
            <a:lvl3pPr>
              <a:defRPr sz="2025" b="1">
                <a:solidFill>
                  <a:srgbClr val="C65A19"/>
                </a:solidFill>
              </a:defRPr>
            </a:lvl3pPr>
            <a:lvl4pPr>
              <a:defRPr sz="2025" b="1">
                <a:solidFill>
                  <a:srgbClr val="C65A19"/>
                </a:solidFill>
              </a:defRPr>
            </a:lvl4pPr>
            <a:lvl5pPr>
              <a:defRPr sz="2025" b="1">
                <a:solidFill>
                  <a:srgbClr val="C65A19"/>
                </a:solidFill>
              </a:defRPr>
            </a:lvl5pPr>
            <a:lvl6pPr>
              <a:defRPr sz="2025" b="1">
                <a:solidFill>
                  <a:srgbClr val="C65A19"/>
                </a:solidFill>
              </a:defRPr>
            </a:lvl6pPr>
            <a:lvl7pPr>
              <a:defRPr sz="2025" b="1">
                <a:solidFill>
                  <a:srgbClr val="C65A19"/>
                </a:solidFill>
              </a:defRPr>
            </a:lvl7pPr>
            <a:lvl8pPr>
              <a:defRPr sz="2025" b="1">
                <a:solidFill>
                  <a:srgbClr val="C65A19"/>
                </a:solidFill>
              </a:defRPr>
            </a:lvl8pPr>
            <a:lvl9pPr>
              <a:defRPr sz="2025" b="1">
                <a:solidFill>
                  <a:srgbClr val="C65A19"/>
                </a:solidFill>
              </a:defRPr>
            </a:lvl9pPr>
          </a:lstStyle>
          <a:p xmlns:a="http://schemas.openxmlformats.org/drawingml/2006/main">
            <a:pPr>
              <a:defRPr sz="2025" b="1">
                <a:solidFill>
                  <a:srgbClr val="C65A19"/>
                </a:solidFill>
              </a:defRPr>
            </a:pPr>
            <a:r>
              <a:rPr sz="2025" b="1">
                <a:solidFill>
                  <a:srgbClr val="C65A19"/>
                </a:solidFill>
              </a:rPr>
              <a:t>Complete with actual hours before course submission</a:t>
            </a:r>
          </a:p>
        </p:txBody>
      </p:sp>
      <p:graphicFrame>
        <p:nvGraphicFramePr>
          <p:cNvPr id="4" name="">
            <a:extLst xmlns:a="http://schemas.openxmlformats.org/drawingml/2006/main">
              <a:ext uri="{FF2B5EF4-FFF2-40B4-BE49-F238E27FC236}">
                <a16:creationId xmlns:a16="http://schemas.microsoft.com/office/drawing/2014/main" id="{89198A55-A55A-4D27-AC7C-0B7CCB0D93AE}"/>
              </a:ext>
            </a:extLst>
          </p:cNvPr>
          <p:cNvGraphicFramePr/>
          <p:nvPr/>
        </p:nvGraphicFramePr>
        <p:xfrm>
          <a:off xmlns:a="http://schemas.openxmlformats.org/drawingml/2006/main" x="571500" y="2238375"/>
          <a:ext xmlns:a="http://schemas.openxmlformats.org/drawingml/2006/main" cx="11049000" cy="2571750"/>
        </p:xfrm>
        <a:graphic xmlns:a="http://schemas.openxmlformats.org/drawingml/2006/main">
          <a:graphicData uri="http://schemas.openxmlformats.org/drawingml/2006/table">
            <a:tbl>
              <a:tblPr/>
              <a:tblGrid>
                <a:gridCol w="2084717"/>
                <a:gridCol w="2084717"/>
                <a:gridCol w="5211792"/>
                <a:gridCol w="1667774"/>
              </a:tblGrid>
              <a:tr h="642938">
                <a:tc>
                  <a:txBody>
                    <a:bodyPr/>
                    <a:lstStyle/>
                    <a:p>
                      <a:r>
                        <a:rPr sz="1800" b="1">
                          <a:solidFill>
                            <a:srgbClr val="FFFFFF"/>
                          </a:solidFill>
                        </a:rPr>
                        <a:t>Team member</a:t>
                      </a:r>
                    </a:p>
                  </a:txBody>
                  <a:tcPr marL="91440" marR="91440" marT="45720" marB="45720">
                    <a:lnL w="9525">
                      <a:solidFill>
                        <a:srgbClr val="D7E3EF"/>
                      </a:solidFill>
                      <a:prstDash val="solid"/>
                    </a:lnL>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c>
                  <a:txBody>
                    <a:bodyPr/>
                    <a:lstStyle/>
                    <a:p>
                      <a:r>
                        <a:rPr sz="1800" b="1">
                          <a:solidFill>
                            <a:srgbClr val="FFFFFF"/>
                          </a:solidFill>
                        </a:rPr>
                        <a:t>Dates</a:t>
                      </a:r>
                    </a:p>
                  </a:txBody>
                  <a:tcPr marL="91440" marR="91440" marT="45720" marB="45720">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c>
                  <a:txBody>
                    <a:bodyPr/>
                    <a:lstStyle/>
                    <a:p>
                      <a:r>
                        <a:rPr sz="1800" b="1">
                          <a:solidFill>
                            <a:srgbClr val="FFFFFF"/>
                          </a:solidFill>
                        </a:rPr>
                        <a:t>Work completed</a:t>
                      </a:r>
                    </a:p>
                  </a:txBody>
                  <a:tcPr marL="91440" marR="91440" marT="45720" marB="45720">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c>
                  <a:txBody>
                    <a:bodyPr/>
                    <a:lstStyle/>
                    <a:p>
                      <a:r>
                        <a:rPr sz="1800" b="1">
                          <a:solidFill>
                            <a:srgbClr val="FFFFFF"/>
                          </a:solidFill>
                        </a:rPr>
                        <a:t>Hours</a:t>
                      </a:r>
                    </a:p>
                  </a:txBody>
                  <a:tcPr marL="91440" marR="91440" marT="45720" marB="45720">
                    <a:lnR w="9525">
                      <a:solidFill>
                        <a:srgbClr val="D7E3EF"/>
                      </a:solidFill>
                      <a:prstDash val="solid"/>
                    </a:lnR>
                    <a:lnT w="9525">
                      <a:solidFill>
                        <a:srgbClr val="D7E3EF"/>
                      </a:solidFill>
                      <a:prstDash val="solid"/>
                    </a:lnT>
                    <a:lnB w="9525">
                      <a:solidFill>
                        <a:srgbClr val="D7E3EF"/>
                      </a:solidFill>
                      <a:prstDash val="solid"/>
                    </a:lnB>
                    <a:solidFill>
                      <a:srgbClr val="173654"/>
                    </a:solidFill>
                  </a:tcPr>
                </a:tc>
              </a:tr>
              <a:tr h="642938">
                <a:tc>
                  <a:txBody>
                    <a:bodyPr/>
                    <a:lstStyle/>
                    <a:p>
                      <a:r>
                        <a:rPr sz="1800" b="0">
                          <a:solidFill>
                            <a:srgbClr val="173654"/>
                          </a:solidFill>
                        </a:rPr>
                        <a:t>Weikun</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Add dates</a:t>
                      </a:r>
                    </a:p>
                  </a:txBody>
                  <a:tcPr marL="91440" marR="91440" marT="45720" marB="45720">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Data pipeline and model comparison</a:t>
                      </a:r>
                    </a:p>
                  </a:txBody>
                  <a:tcPr marL="91440" marR="91440" marT="45720" marB="45720">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Add hours</a:t>
                      </a:r>
                    </a:p>
                  </a:txBody>
                  <a:tcPr marL="91440" marR="91440" marT="45720" marB="45720">
                    <a:lnR w="9525">
                      <a:solidFill>
                        <a:srgbClr val="D7E3EF"/>
                      </a:solidFill>
                      <a:prstDash val="solid"/>
                    </a:lnR>
                    <a:lnB w="9525">
                      <a:solidFill>
                        <a:srgbClr val="D7E3EF"/>
                      </a:solidFill>
                      <a:prstDash val="solid"/>
                    </a:lnB>
                    <a:solidFill>
                      <a:srgbClr val="FFFFFF"/>
                    </a:solidFill>
                  </a:tcPr>
                </a:tc>
              </a:tr>
              <a:tr h="642938">
                <a:tc>
                  <a:txBody>
                    <a:bodyPr/>
                    <a:lstStyle/>
                    <a:p>
                      <a:r>
                        <a:rPr sz="1800" b="0">
                          <a:solidFill>
                            <a:srgbClr val="173654"/>
                          </a:solidFill>
                        </a:rPr>
                        <a:t>Dhruvesh</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Add dates</a:t>
                      </a:r>
                    </a:p>
                  </a:txBody>
                  <a:tcPr marL="91440" marR="91440" marT="45720" marB="45720">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Add actual work</a:t>
                      </a:r>
                    </a:p>
                  </a:txBody>
                  <a:tcPr marL="91440" marR="91440" marT="45720" marB="45720">
                    <a:lnR w="9525">
                      <a:solidFill>
                        <a:srgbClr val="D7E3EF"/>
                      </a:solidFill>
                      <a:prstDash val="solid"/>
                    </a:lnR>
                    <a:lnB w="9525">
                      <a:solidFill>
                        <a:srgbClr val="D7E3EF"/>
                      </a:solidFill>
                      <a:prstDash val="solid"/>
                    </a:lnB>
                    <a:solidFill>
                      <a:srgbClr val="E6F0F8"/>
                    </a:solidFill>
                  </a:tcPr>
                </a:tc>
                <a:tc>
                  <a:txBody>
                    <a:bodyPr/>
                    <a:lstStyle/>
                    <a:p>
                      <a:r>
                        <a:rPr sz="1800" b="0">
                          <a:solidFill>
                            <a:srgbClr val="173654"/>
                          </a:solidFill>
                        </a:rPr>
                        <a:t>Add hours</a:t>
                      </a:r>
                    </a:p>
                  </a:txBody>
                  <a:tcPr marL="91440" marR="91440" marT="45720" marB="45720">
                    <a:lnR w="9525">
                      <a:solidFill>
                        <a:srgbClr val="D7E3EF"/>
                      </a:solidFill>
                      <a:prstDash val="solid"/>
                    </a:lnR>
                    <a:lnB w="9525">
                      <a:solidFill>
                        <a:srgbClr val="D7E3EF"/>
                      </a:solidFill>
                      <a:prstDash val="solid"/>
                    </a:lnB>
                    <a:solidFill>
                      <a:srgbClr val="E6F0F8"/>
                    </a:solidFill>
                  </a:tcPr>
                </a:tc>
              </a:tr>
              <a:tr h="642938">
                <a:tc>
                  <a:txBody>
                    <a:bodyPr/>
                    <a:lstStyle/>
                    <a:p>
                      <a:r>
                        <a:rPr sz="1800" b="0">
                          <a:solidFill>
                            <a:srgbClr val="173654"/>
                          </a:solidFill>
                        </a:rPr>
                        <a:t>Ayaan</a:t>
                      </a:r>
                    </a:p>
                  </a:txBody>
                  <a:tcPr marL="91440" marR="91440" marT="45720" marB="45720">
                    <a:lnL w="9525">
                      <a:solidFill>
                        <a:srgbClr val="D7E3EF"/>
                      </a:solidFill>
                      <a:prstDash val="solid"/>
                    </a:lnL>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Add dates</a:t>
                      </a:r>
                    </a:p>
                  </a:txBody>
                  <a:tcPr marL="91440" marR="91440" marT="45720" marB="45720">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Add actual work</a:t>
                      </a:r>
                    </a:p>
                  </a:txBody>
                  <a:tcPr marL="91440" marR="91440" marT="45720" marB="45720">
                    <a:lnR w="9525">
                      <a:solidFill>
                        <a:srgbClr val="D7E3EF"/>
                      </a:solidFill>
                      <a:prstDash val="solid"/>
                    </a:lnR>
                    <a:lnB w="9525">
                      <a:solidFill>
                        <a:srgbClr val="D7E3EF"/>
                      </a:solidFill>
                      <a:prstDash val="solid"/>
                    </a:lnB>
                    <a:solidFill>
                      <a:srgbClr val="FFFFFF"/>
                    </a:solidFill>
                  </a:tcPr>
                </a:tc>
                <a:tc>
                  <a:txBody>
                    <a:bodyPr/>
                    <a:lstStyle/>
                    <a:p>
                      <a:r>
                        <a:rPr sz="1800" b="0">
                          <a:solidFill>
                            <a:srgbClr val="173654"/>
                          </a:solidFill>
                        </a:rPr>
                        <a:t>Add hours</a:t>
                      </a:r>
                    </a:p>
                  </a:txBody>
                  <a:tcPr marL="91440" marR="91440" marT="45720" marB="45720">
                    <a:lnR w="9525">
                      <a:solidFill>
                        <a:srgbClr val="D7E3EF"/>
                      </a:solidFill>
                      <a:prstDash val="solid"/>
                    </a:lnR>
                    <a:lnB w="9525">
                      <a:solidFill>
                        <a:srgbClr val="D7E3E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C681431-DB31-48DB-A21B-BED1EB2CE652}"/>
              </a:ext>
            </a:extLst>
          </p:cNvPr>
          <p:cNvSpPr>
            <a:spLocks xmlns:a="http://schemas.openxmlformats.org/drawingml/2006/main" noGrp="1"/>
          </p:cNvSpPr>
          <p:nvPr/>
        </p:nvSpPr>
        <p:spPr>
          <a:xfrm xmlns:a="http://schemas.openxmlformats.org/drawingml/2006/main">
            <a:off x="571500" y="6143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D"/>
                </a:solidFill>
              </a:defRPr>
            </a:defPPr>
            <a:lvl1pPr>
              <a:defRPr sz="1350" b="0">
                <a:solidFill>
                  <a:srgbClr val="53677D"/>
                </a:solidFill>
              </a:defRPr>
            </a:lvl1pPr>
            <a:lvl2pPr>
              <a:defRPr sz="1350" b="0">
                <a:solidFill>
                  <a:srgbClr val="53677D"/>
                </a:solidFill>
              </a:defRPr>
            </a:lvl2pPr>
            <a:lvl3pPr>
              <a:defRPr sz="1350" b="0">
                <a:solidFill>
                  <a:srgbClr val="53677D"/>
                </a:solidFill>
              </a:defRPr>
            </a:lvl3pPr>
            <a:lvl4pPr>
              <a:defRPr sz="1350" b="0">
                <a:solidFill>
                  <a:srgbClr val="53677D"/>
                </a:solidFill>
              </a:defRPr>
            </a:lvl4pPr>
            <a:lvl5pPr>
              <a:defRPr sz="1350" b="0">
                <a:solidFill>
                  <a:srgbClr val="53677D"/>
                </a:solidFill>
              </a:defRPr>
            </a:lvl5pPr>
            <a:lvl6pPr>
              <a:defRPr sz="1350" b="0">
                <a:solidFill>
                  <a:srgbClr val="53677D"/>
                </a:solidFill>
              </a:defRPr>
            </a:lvl6pPr>
            <a:lvl7pPr>
              <a:defRPr sz="1350" b="0">
                <a:solidFill>
                  <a:srgbClr val="53677D"/>
                </a:solidFill>
              </a:defRPr>
            </a:lvl7pPr>
            <a:lvl8pPr>
              <a:defRPr sz="1350" b="0">
                <a:solidFill>
                  <a:srgbClr val="53677D"/>
                </a:solidFill>
              </a:defRPr>
            </a:lvl8pPr>
            <a:lvl9pPr>
              <a:defRPr sz="1350" b="0">
                <a:solidFill>
                  <a:srgbClr val="53677D"/>
                </a:solidFill>
              </a:defRPr>
            </a:lvl9pPr>
          </a:lstStyle>
          <a:p xmlns:a="http://schemas.openxmlformats.org/drawingml/2006/main">
            <a:pPr>
              <a:defRPr sz="1350" b="0">
                <a:solidFill>
                  <a:srgbClr val="53677D"/>
                </a:solidFill>
              </a:defRPr>
            </a:pPr>
            <a:r>
              <a:rPr sz="1350" b="0">
                <a:solidFill>
                  <a:srgbClr val="53677D"/>
                </a:solidFill>
              </a:rPr>
              <a:t>Not presented. Replace all prompts with actual records, or attach separate individual time sheets.</a:t>
            </a:r>
          </a:p>
        </p:txBody>
      </p:sp>
    </p:spTree>
    <p:extLst>
      <p:ext uri="{BB962C8B-B14F-4D97-AF65-F5344CB8AC3E}">
        <p14:creationId xmlns:p14="http://schemas.microsoft.com/office/powerpoint/2010/main" val="664192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2026-10-26T16:40:51.6970000Z</dcterms:created>
  <dcterms:modified xsi:type="dcterms:W3CDTF">2026-10-26T16:40:51.6970000Z</dcterms:modified>
</coreProperties>
</file>